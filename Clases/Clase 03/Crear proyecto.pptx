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Open Sans" panose="020B0606030504020204" pitchFamily="34" charset="0"/>
      <p:regular r:id="rId14"/>
    </p:embeddedFont>
    <p:embeddedFont>
      <p:font typeface="Open Sans Bold" panose="020B0806030504020204" pitchFamily="34" charset="0"/>
      <p:regular r:id="rId15"/>
      <p:bold r:id="rId16"/>
    </p:embeddedFont>
    <p:embeddedFont>
      <p:font typeface="Poppins" panose="00000500000000000000" pitchFamily="2" charset="0"/>
      <p:regular r:id="rId17"/>
      <p:bold r:id="rId18"/>
      <p:italic r:id="rId19"/>
      <p:boldItalic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1" d="100"/>
          <a:sy n="71" d="100"/>
        </p:scale>
        <p:origin x="71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555555">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7467601" y="3000563"/>
            <a:ext cx="9314928" cy="1566544"/>
          </a:xfrm>
          <a:prstGeom prst="rect">
            <a:avLst/>
          </a:prstGeom>
        </p:spPr>
        <p:txBody>
          <a:bodyPr wrap="square" lIns="0" tIns="0" rIns="0" bIns="0" rtlCol="0" anchor="t">
            <a:spAutoFit/>
          </a:bodyPr>
          <a:lstStyle/>
          <a:p>
            <a:pPr algn="ctr">
              <a:lnSpc>
                <a:spcPts val="12880"/>
              </a:lnSpc>
            </a:pPr>
            <a:r>
              <a:rPr lang="en-US" sz="9200" b="1" dirty="0" err="1">
                <a:solidFill>
                  <a:srgbClr val="FFFFFF"/>
                </a:solidFill>
                <a:latin typeface="Open Sans Bold"/>
                <a:ea typeface="Open Sans Bold"/>
                <a:cs typeface="Open Sans Bold"/>
                <a:sym typeface="Open Sans Bold"/>
              </a:rPr>
              <a:t>Crear</a:t>
            </a:r>
            <a:r>
              <a:rPr lang="en-US" sz="9200" b="1" dirty="0">
                <a:solidFill>
                  <a:srgbClr val="FFFFFF"/>
                </a:solidFill>
                <a:latin typeface="Open Sans Bold"/>
                <a:ea typeface="Open Sans Bold"/>
                <a:cs typeface="Open Sans Bold"/>
                <a:sym typeface="Open Sans Bold"/>
              </a:rPr>
              <a:t> </a:t>
            </a:r>
            <a:r>
              <a:rPr lang="en-US" sz="9200" b="1" dirty="0" err="1">
                <a:solidFill>
                  <a:srgbClr val="FFFFFF"/>
                </a:solidFill>
                <a:latin typeface="Open Sans Bold"/>
                <a:ea typeface="Open Sans Bold"/>
                <a:cs typeface="Open Sans Bold"/>
                <a:sym typeface="Open Sans Bold"/>
              </a:rPr>
              <a:t>proyecto</a:t>
            </a:r>
            <a:endParaRPr lang="en-US" sz="9200" b="1" dirty="0">
              <a:solidFill>
                <a:srgbClr val="FFFFFF"/>
              </a:solidFill>
              <a:latin typeface="Open Sans Bold"/>
              <a:ea typeface="Open Sans Bold"/>
              <a:cs typeface="Open Sans Bold"/>
              <a:sym typeface="Open Sans Bold"/>
            </a:endParaRPr>
          </a:p>
        </p:txBody>
      </p:sp>
      <p:sp>
        <p:nvSpPr>
          <p:cNvPr id="3" name="TextBox 3"/>
          <p:cNvSpPr txBox="1"/>
          <p:nvPr/>
        </p:nvSpPr>
        <p:spPr>
          <a:xfrm>
            <a:off x="9144000" y="5830722"/>
            <a:ext cx="7136799" cy="887095"/>
          </a:xfrm>
          <a:prstGeom prst="rect">
            <a:avLst/>
          </a:prstGeom>
        </p:spPr>
        <p:txBody>
          <a:bodyPr wrap="square" lIns="0" tIns="0" rIns="0" bIns="0" rtlCol="0" anchor="t">
            <a:spAutoFit/>
          </a:bodyPr>
          <a:lstStyle/>
          <a:p>
            <a:pPr algn="ctr">
              <a:lnSpc>
                <a:spcPts val="7279"/>
              </a:lnSpc>
            </a:pPr>
            <a:r>
              <a:rPr lang="en-US" sz="5199" b="1" dirty="0">
                <a:solidFill>
                  <a:srgbClr val="FFFFFF"/>
                </a:solidFill>
                <a:latin typeface="Open Sans Bold"/>
                <a:ea typeface="Open Sans Bold"/>
                <a:cs typeface="Open Sans Bold"/>
                <a:sym typeface="Open Sans Bold"/>
              </a:rPr>
              <a:t>By: Escobar Joel</a:t>
            </a:r>
          </a:p>
        </p:txBody>
      </p:sp>
      <p:sp>
        <p:nvSpPr>
          <p:cNvPr id="4" name="TextBox 4"/>
          <p:cNvSpPr txBox="1"/>
          <p:nvPr/>
        </p:nvSpPr>
        <p:spPr>
          <a:xfrm>
            <a:off x="16690915" y="8642290"/>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FFFFFF"/>
                </a:solidFill>
                <a:latin typeface="Open Sans"/>
                <a:ea typeface="Open Sans"/>
                <a:cs typeface="Open Sans"/>
                <a:sym typeface="Open Sans"/>
              </a:rPr>
              <a:t>1</a:t>
            </a:r>
          </a:p>
        </p:txBody>
      </p:sp>
      <p:sp>
        <p:nvSpPr>
          <p:cNvPr id="5" name="Freeform 5"/>
          <p:cNvSpPr/>
          <p:nvPr/>
        </p:nvSpPr>
        <p:spPr>
          <a:xfrm>
            <a:off x="1551458" y="3423297"/>
            <a:ext cx="5482571" cy="3440405"/>
          </a:xfrm>
          <a:custGeom>
            <a:avLst/>
            <a:gdLst/>
            <a:ahLst/>
            <a:cxnLst/>
            <a:rect l="l" t="t" r="r" b="b"/>
            <a:pathLst>
              <a:path w="5482571" h="3440405">
                <a:moveTo>
                  <a:pt x="0" y="0"/>
                </a:moveTo>
                <a:lnTo>
                  <a:pt x="5482571" y="0"/>
                </a:lnTo>
                <a:lnTo>
                  <a:pt x="5482571" y="3440406"/>
                </a:lnTo>
                <a:lnTo>
                  <a:pt x="0" y="3440406"/>
                </a:lnTo>
                <a:lnTo>
                  <a:pt x="0" y="0"/>
                </a:lnTo>
                <a:close/>
              </a:path>
            </a:pathLst>
          </a:custGeom>
          <a:blipFill>
            <a:blip r:embed="rId2"/>
            <a:stretch>
              <a:fillRect/>
            </a:stretch>
          </a:blipFill>
        </p:spPr>
        <p:txBody>
          <a:bodyPr/>
          <a:lstStyle/>
          <a:p>
            <a:endParaRPr lang="es-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555555">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9604075" y="2380501"/>
            <a:ext cx="5878092" cy="3227188"/>
          </a:xfrm>
          <a:custGeom>
            <a:avLst/>
            <a:gdLst/>
            <a:ahLst/>
            <a:cxnLst/>
            <a:rect l="l" t="t" r="r" b="b"/>
            <a:pathLst>
              <a:path w="5878092" h="3227188">
                <a:moveTo>
                  <a:pt x="0" y="0"/>
                </a:moveTo>
                <a:lnTo>
                  <a:pt x="5878093" y="0"/>
                </a:lnTo>
                <a:lnTo>
                  <a:pt x="5878093" y="3227188"/>
                </a:lnTo>
                <a:lnTo>
                  <a:pt x="0" y="3227188"/>
                </a:lnTo>
                <a:lnTo>
                  <a:pt x="0" y="0"/>
                </a:lnTo>
                <a:close/>
              </a:path>
            </a:pathLst>
          </a:custGeom>
          <a:blipFill>
            <a:blip r:embed="rId2"/>
            <a:stretch>
              <a:fillRect/>
            </a:stretch>
          </a:blipFill>
        </p:spPr>
        <p:txBody>
          <a:bodyPr/>
          <a:lstStyle/>
          <a:p>
            <a:endParaRPr lang="es-AR"/>
          </a:p>
        </p:txBody>
      </p:sp>
      <p:sp>
        <p:nvSpPr>
          <p:cNvPr id="3" name="Freeform 3"/>
          <p:cNvSpPr/>
          <p:nvPr/>
        </p:nvSpPr>
        <p:spPr>
          <a:xfrm>
            <a:off x="9604075" y="5909314"/>
            <a:ext cx="5878092" cy="1075539"/>
          </a:xfrm>
          <a:custGeom>
            <a:avLst/>
            <a:gdLst/>
            <a:ahLst/>
            <a:cxnLst/>
            <a:rect l="l" t="t" r="r" b="b"/>
            <a:pathLst>
              <a:path w="5878092" h="1075539">
                <a:moveTo>
                  <a:pt x="0" y="0"/>
                </a:moveTo>
                <a:lnTo>
                  <a:pt x="5878093" y="0"/>
                </a:lnTo>
                <a:lnTo>
                  <a:pt x="5878093" y="1075539"/>
                </a:lnTo>
                <a:lnTo>
                  <a:pt x="0" y="1075539"/>
                </a:lnTo>
                <a:lnTo>
                  <a:pt x="0" y="0"/>
                </a:lnTo>
                <a:close/>
              </a:path>
            </a:pathLst>
          </a:custGeom>
          <a:blipFill>
            <a:blip r:embed="rId3"/>
            <a:stretch>
              <a:fillRect l="-19695"/>
            </a:stretch>
          </a:blipFill>
        </p:spPr>
        <p:txBody>
          <a:bodyPr/>
          <a:lstStyle/>
          <a:p>
            <a:endParaRPr lang="es-AR"/>
          </a:p>
        </p:txBody>
      </p:sp>
      <p:sp>
        <p:nvSpPr>
          <p:cNvPr id="4" name="Freeform 4"/>
          <p:cNvSpPr/>
          <p:nvPr/>
        </p:nvSpPr>
        <p:spPr>
          <a:xfrm>
            <a:off x="9604075" y="7216144"/>
            <a:ext cx="3337943" cy="1083056"/>
          </a:xfrm>
          <a:custGeom>
            <a:avLst/>
            <a:gdLst/>
            <a:ahLst/>
            <a:cxnLst/>
            <a:rect l="l" t="t" r="r" b="b"/>
            <a:pathLst>
              <a:path w="3337943" h="1083056">
                <a:moveTo>
                  <a:pt x="0" y="0"/>
                </a:moveTo>
                <a:lnTo>
                  <a:pt x="3337944" y="0"/>
                </a:lnTo>
                <a:lnTo>
                  <a:pt x="3337944" y="1083056"/>
                </a:lnTo>
                <a:lnTo>
                  <a:pt x="0" y="1083056"/>
                </a:lnTo>
                <a:lnTo>
                  <a:pt x="0" y="0"/>
                </a:lnTo>
                <a:close/>
              </a:path>
            </a:pathLst>
          </a:custGeom>
          <a:blipFill>
            <a:blip r:embed="rId4"/>
            <a:stretch>
              <a:fillRect/>
            </a:stretch>
          </a:blipFill>
        </p:spPr>
        <p:txBody>
          <a:bodyPr/>
          <a:lstStyle/>
          <a:p>
            <a:endParaRPr lang="es-AR"/>
          </a:p>
        </p:txBody>
      </p:sp>
      <p:sp>
        <p:nvSpPr>
          <p:cNvPr id="5" name="TextBox 5"/>
          <p:cNvSpPr txBox="1"/>
          <p:nvPr/>
        </p:nvSpPr>
        <p:spPr>
          <a:xfrm>
            <a:off x="16690915" y="8642290"/>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FFFFFF"/>
                </a:solidFill>
                <a:latin typeface="Open Sans"/>
                <a:ea typeface="Open Sans"/>
                <a:cs typeface="Open Sans"/>
                <a:sym typeface="Open Sans"/>
              </a:rPr>
              <a:t>2</a:t>
            </a:r>
          </a:p>
        </p:txBody>
      </p:sp>
      <p:sp>
        <p:nvSpPr>
          <p:cNvPr id="6" name="TextBox 6"/>
          <p:cNvSpPr txBox="1"/>
          <p:nvPr/>
        </p:nvSpPr>
        <p:spPr>
          <a:xfrm>
            <a:off x="7776344" y="720567"/>
            <a:ext cx="2735312" cy="688961"/>
          </a:xfrm>
          <a:prstGeom prst="rect">
            <a:avLst/>
          </a:prstGeom>
        </p:spPr>
        <p:txBody>
          <a:bodyPr lIns="0" tIns="0" rIns="0" bIns="0" rtlCol="0" anchor="t">
            <a:spAutoFit/>
          </a:bodyPr>
          <a:lstStyle/>
          <a:p>
            <a:pPr algn="ctr">
              <a:lnSpc>
                <a:spcPts val="5600"/>
              </a:lnSpc>
            </a:pPr>
            <a:r>
              <a:rPr lang="en-US" sz="4000" b="1">
                <a:solidFill>
                  <a:srgbClr val="FFFFFF"/>
                </a:solidFill>
                <a:latin typeface="Open Sans Bold"/>
                <a:ea typeface="Open Sans Bold"/>
                <a:cs typeface="Open Sans Bold"/>
                <a:sym typeface="Open Sans Bold"/>
              </a:rPr>
              <a:t>npm init -y</a:t>
            </a:r>
          </a:p>
        </p:txBody>
      </p:sp>
      <p:sp>
        <p:nvSpPr>
          <p:cNvPr id="7" name="TextBox 7"/>
          <p:cNvSpPr txBox="1"/>
          <p:nvPr/>
        </p:nvSpPr>
        <p:spPr>
          <a:xfrm>
            <a:off x="1440443" y="2332876"/>
            <a:ext cx="7703557" cy="701675"/>
          </a:xfrm>
          <a:prstGeom prst="rect">
            <a:avLst/>
          </a:prstGeom>
        </p:spPr>
        <p:txBody>
          <a:bodyPr lIns="0" tIns="0" rIns="0" bIns="0" rtlCol="0" anchor="t">
            <a:spAutoFit/>
          </a:bodyPr>
          <a:lstStyle/>
          <a:p>
            <a:pPr algn="l">
              <a:lnSpc>
                <a:spcPts val="2800"/>
              </a:lnSpc>
              <a:spcBef>
                <a:spcPct val="0"/>
              </a:spcBef>
            </a:pPr>
            <a:r>
              <a:rPr lang="en-US" sz="2000">
                <a:solidFill>
                  <a:srgbClr val="FFFFFF"/>
                </a:solidFill>
                <a:latin typeface="Open Sans"/>
                <a:ea typeface="Open Sans"/>
                <a:cs typeface="Open Sans"/>
                <a:sym typeface="Open Sans"/>
              </a:rPr>
              <a:t>Esto genera un archivo package.json, que guarda la info del proyecto y sus dependencias.</a:t>
            </a:r>
          </a:p>
        </p:txBody>
      </p:sp>
      <p:sp>
        <p:nvSpPr>
          <p:cNvPr id="8" name="TextBox 8"/>
          <p:cNvSpPr txBox="1"/>
          <p:nvPr/>
        </p:nvSpPr>
        <p:spPr>
          <a:xfrm>
            <a:off x="1440443" y="5710876"/>
            <a:ext cx="3677989" cy="349250"/>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Open Sans"/>
                <a:ea typeface="Open Sans"/>
                <a:cs typeface="Open Sans"/>
                <a:sym typeface="Open Sans"/>
              </a:rPr>
              <a:t>Generamos el archivo principal</a:t>
            </a:r>
          </a:p>
        </p:txBody>
      </p:sp>
      <p:sp>
        <p:nvSpPr>
          <p:cNvPr id="9" name="TextBox 9"/>
          <p:cNvSpPr txBox="1"/>
          <p:nvPr/>
        </p:nvSpPr>
        <p:spPr>
          <a:xfrm>
            <a:off x="1440443" y="7168519"/>
            <a:ext cx="2571452" cy="349250"/>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Open Sans"/>
                <a:ea typeface="Open Sans"/>
                <a:cs typeface="Open Sans"/>
                <a:sym typeface="Open Sans"/>
              </a:rPr>
              <a:t>Ejecutamos el archivo</a:t>
            </a:r>
          </a:p>
        </p:txBody>
      </p:sp>
      <p:sp>
        <p:nvSpPr>
          <p:cNvPr id="10" name="TextBox 10"/>
          <p:cNvSpPr txBox="1"/>
          <p:nvPr/>
        </p:nvSpPr>
        <p:spPr>
          <a:xfrm>
            <a:off x="1440443" y="7710047"/>
            <a:ext cx="1577578" cy="349250"/>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Open Sans"/>
                <a:ea typeface="Open Sans"/>
                <a:cs typeface="Open Sans"/>
                <a:sym typeface="Open Sans"/>
              </a:rPr>
              <a:t>node index.js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555555">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9052436" y="2796694"/>
            <a:ext cx="2973570" cy="328870"/>
          </a:xfrm>
          <a:custGeom>
            <a:avLst/>
            <a:gdLst/>
            <a:ahLst/>
            <a:cxnLst/>
            <a:rect l="l" t="t" r="r" b="b"/>
            <a:pathLst>
              <a:path w="2973570" h="328870">
                <a:moveTo>
                  <a:pt x="0" y="0"/>
                </a:moveTo>
                <a:lnTo>
                  <a:pt x="2973570" y="0"/>
                </a:lnTo>
                <a:lnTo>
                  <a:pt x="2973570" y="328869"/>
                </a:lnTo>
                <a:lnTo>
                  <a:pt x="0" y="328869"/>
                </a:lnTo>
                <a:lnTo>
                  <a:pt x="0" y="0"/>
                </a:lnTo>
                <a:close/>
              </a:path>
            </a:pathLst>
          </a:custGeom>
          <a:blipFill>
            <a:blip r:embed="rId2"/>
            <a:stretch>
              <a:fillRect t="-65162" r="-86194" b="-784198"/>
            </a:stretch>
          </a:blipFill>
        </p:spPr>
        <p:txBody>
          <a:bodyPr/>
          <a:lstStyle/>
          <a:p>
            <a:endParaRPr lang="es-AR"/>
          </a:p>
        </p:txBody>
      </p:sp>
      <p:sp>
        <p:nvSpPr>
          <p:cNvPr id="3" name="Freeform 3"/>
          <p:cNvSpPr/>
          <p:nvPr/>
        </p:nvSpPr>
        <p:spPr>
          <a:xfrm>
            <a:off x="9052436" y="3288107"/>
            <a:ext cx="2973570" cy="301625"/>
          </a:xfrm>
          <a:custGeom>
            <a:avLst/>
            <a:gdLst/>
            <a:ahLst/>
            <a:cxnLst/>
            <a:rect l="l" t="t" r="r" b="b"/>
            <a:pathLst>
              <a:path w="2973570" h="301625">
                <a:moveTo>
                  <a:pt x="0" y="0"/>
                </a:moveTo>
                <a:lnTo>
                  <a:pt x="2973570" y="0"/>
                </a:lnTo>
                <a:lnTo>
                  <a:pt x="2973570" y="301625"/>
                </a:lnTo>
                <a:lnTo>
                  <a:pt x="0" y="301625"/>
                </a:lnTo>
                <a:lnTo>
                  <a:pt x="0" y="0"/>
                </a:lnTo>
                <a:close/>
              </a:path>
            </a:pathLst>
          </a:custGeom>
          <a:blipFill>
            <a:blip r:embed="rId3"/>
            <a:stretch>
              <a:fillRect t="-29933" b="-29933"/>
            </a:stretch>
          </a:blipFill>
        </p:spPr>
        <p:txBody>
          <a:bodyPr/>
          <a:lstStyle/>
          <a:p>
            <a:endParaRPr lang="es-AR"/>
          </a:p>
        </p:txBody>
      </p:sp>
      <p:sp>
        <p:nvSpPr>
          <p:cNvPr id="4" name="Freeform 4"/>
          <p:cNvSpPr/>
          <p:nvPr/>
        </p:nvSpPr>
        <p:spPr>
          <a:xfrm>
            <a:off x="9052436" y="3933804"/>
            <a:ext cx="2928223" cy="361509"/>
          </a:xfrm>
          <a:custGeom>
            <a:avLst/>
            <a:gdLst/>
            <a:ahLst/>
            <a:cxnLst/>
            <a:rect l="l" t="t" r="r" b="b"/>
            <a:pathLst>
              <a:path w="2928223" h="361509">
                <a:moveTo>
                  <a:pt x="0" y="0"/>
                </a:moveTo>
                <a:lnTo>
                  <a:pt x="2928223" y="0"/>
                </a:lnTo>
                <a:lnTo>
                  <a:pt x="2928223" y="361509"/>
                </a:lnTo>
                <a:lnTo>
                  <a:pt x="0" y="361509"/>
                </a:lnTo>
                <a:lnTo>
                  <a:pt x="0" y="0"/>
                </a:lnTo>
                <a:close/>
              </a:path>
            </a:pathLst>
          </a:custGeom>
          <a:blipFill>
            <a:blip r:embed="rId4"/>
            <a:stretch>
              <a:fillRect/>
            </a:stretch>
          </a:blipFill>
        </p:spPr>
        <p:txBody>
          <a:bodyPr/>
          <a:lstStyle/>
          <a:p>
            <a:endParaRPr lang="es-AR"/>
          </a:p>
        </p:txBody>
      </p:sp>
      <p:sp>
        <p:nvSpPr>
          <p:cNvPr id="5" name="Freeform 5"/>
          <p:cNvSpPr/>
          <p:nvPr/>
        </p:nvSpPr>
        <p:spPr>
          <a:xfrm>
            <a:off x="9052436" y="4932803"/>
            <a:ext cx="2086893" cy="361509"/>
          </a:xfrm>
          <a:custGeom>
            <a:avLst/>
            <a:gdLst/>
            <a:ahLst/>
            <a:cxnLst/>
            <a:rect l="l" t="t" r="r" b="b"/>
            <a:pathLst>
              <a:path w="2086893" h="361509">
                <a:moveTo>
                  <a:pt x="0" y="0"/>
                </a:moveTo>
                <a:lnTo>
                  <a:pt x="2086893" y="0"/>
                </a:lnTo>
                <a:lnTo>
                  <a:pt x="2086893" y="361509"/>
                </a:lnTo>
                <a:lnTo>
                  <a:pt x="0" y="361509"/>
                </a:lnTo>
                <a:lnTo>
                  <a:pt x="0" y="0"/>
                </a:lnTo>
                <a:close/>
              </a:path>
            </a:pathLst>
          </a:custGeom>
          <a:blipFill>
            <a:blip r:embed="rId5"/>
            <a:stretch>
              <a:fillRect/>
            </a:stretch>
          </a:blipFill>
        </p:spPr>
        <p:txBody>
          <a:bodyPr/>
          <a:lstStyle/>
          <a:p>
            <a:endParaRPr lang="es-AR"/>
          </a:p>
        </p:txBody>
      </p:sp>
      <p:sp>
        <p:nvSpPr>
          <p:cNvPr id="6" name="Freeform 6"/>
          <p:cNvSpPr/>
          <p:nvPr/>
        </p:nvSpPr>
        <p:spPr>
          <a:xfrm>
            <a:off x="9052436" y="5781266"/>
            <a:ext cx="3156699" cy="424780"/>
          </a:xfrm>
          <a:custGeom>
            <a:avLst/>
            <a:gdLst/>
            <a:ahLst/>
            <a:cxnLst/>
            <a:rect l="l" t="t" r="r" b="b"/>
            <a:pathLst>
              <a:path w="3156699" h="424780">
                <a:moveTo>
                  <a:pt x="0" y="0"/>
                </a:moveTo>
                <a:lnTo>
                  <a:pt x="3156698" y="0"/>
                </a:lnTo>
                <a:lnTo>
                  <a:pt x="3156698" y="424780"/>
                </a:lnTo>
                <a:lnTo>
                  <a:pt x="0" y="424780"/>
                </a:lnTo>
                <a:lnTo>
                  <a:pt x="0" y="0"/>
                </a:lnTo>
                <a:close/>
              </a:path>
            </a:pathLst>
          </a:custGeom>
          <a:blipFill>
            <a:blip r:embed="rId6"/>
            <a:stretch>
              <a:fillRect/>
            </a:stretch>
          </a:blipFill>
        </p:spPr>
        <p:txBody>
          <a:bodyPr/>
          <a:lstStyle/>
          <a:p>
            <a:endParaRPr lang="es-AR"/>
          </a:p>
        </p:txBody>
      </p:sp>
      <p:sp>
        <p:nvSpPr>
          <p:cNvPr id="7" name="Freeform 7"/>
          <p:cNvSpPr/>
          <p:nvPr/>
        </p:nvSpPr>
        <p:spPr>
          <a:xfrm>
            <a:off x="9052436" y="6615621"/>
            <a:ext cx="2047269" cy="903590"/>
          </a:xfrm>
          <a:custGeom>
            <a:avLst/>
            <a:gdLst/>
            <a:ahLst/>
            <a:cxnLst/>
            <a:rect l="l" t="t" r="r" b="b"/>
            <a:pathLst>
              <a:path w="2047269" h="903590">
                <a:moveTo>
                  <a:pt x="0" y="0"/>
                </a:moveTo>
                <a:lnTo>
                  <a:pt x="2047269" y="0"/>
                </a:lnTo>
                <a:lnTo>
                  <a:pt x="2047269" y="903590"/>
                </a:lnTo>
                <a:lnTo>
                  <a:pt x="0" y="903590"/>
                </a:lnTo>
                <a:lnTo>
                  <a:pt x="0" y="0"/>
                </a:lnTo>
                <a:close/>
              </a:path>
            </a:pathLst>
          </a:custGeom>
          <a:blipFill>
            <a:blip r:embed="rId7"/>
            <a:stretch>
              <a:fillRect l="-2906" t="-2468" r="-5771"/>
            </a:stretch>
          </a:blipFill>
        </p:spPr>
        <p:txBody>
          <a:bodyPr/>
          <a:lstStyle/>
          <a:p>
            <a:endParaRPr lang="es-AR"/>
          </a:p>
        </p:txBody>
      </p:sp>
      <p:sp>
        <p:nvSpPr>
          <p:cNvPr id="8" name="Freeform 8"/>
          <p:cNvSpPr/>
          <p:nvPr/>
        </p:nvSpPr>
        <p:spPr>
          <a:xfrm>
            <a:off x="9023844" y="7618837"/>
            <a:ext cx="1515377" cy="757688"/>
          </a:xfrm>
          <a:custGeom>
            <a:avLst/>
            <a:gdLst/>
            <a:ahLst/>
            <a:cxnLst/>
            <a:rect l="l" t="t" r="r" b="b"/>
            <a:pathLst>
              <a:path w="1515377" h="757688">
                <a:moveTo>
                  <a:pt x="0" y="0"/>
                </a:moveTo>
                <a:lnTo>
                  <a:pt x="1515377" y="0"/>
                </a:lnTo>
                <a:lnTo>
                  <a:pt x="1515377" y="757688"/>
                </a:lnTo>
                <a:lnTo>
                  <a:pt x="0" y="757688"/>
                </a:lnTo>
                <a:lnTo>
                  <a:pt x="0" y="0"/>
                </a:lnTo>
                <a:close/>
              </a:path>
            </a:pathLst>
          </a:custGeom>
          <a:blipFill>
            <a:blip r:embed="rId8"/>
            <a:stretch>
              <a:fillRect/>
            </a:stretch>
          </a:blipFill>
        </p:spPr>
        <p:txBody>
          <a:bodyPr/>
          <a:lstStyle/>
          <a:p>
            <a:endParaRPr lang="es-AR"/>
          </a:p>
        </p:txBody>
      </p:sp>
      <p:sp>
        <p:nvSpPr>
          <p:cNvPr id="9" name="Freeform 9"/>
          <p:cNvSpPr/>
          <p:nvPr/>
        </p:nvSpPr>
        <p:spPr>
          <a:xfrm>
            <a:off x="9052436" y="8538450"/>
            <a:ext cx="2086893" cy="350738"/>
          </a:xfrm>
          <a:custGeom>
            <a:avLst/>
            <a:gdLst/>
            <a:ahLst/>
            <a:cxnLst/>
            <a:rect l="l" t="t" r="r" b="b"/>
            <a:pathLst>
              <a:path w="2086893" h="350738">
                <a:moveTo>
                  <a:pt x="0" y="0"/>
                </a:moveTo>
                <a:lnTo>
                  <a:pt x="2086893" y="0"/>
                </a:lnTo>
                <a:lnTo>
                  <a:pt x="2086893" y="350738"/>
                </a:lnTo>
                <a:lnTo>
                  <a:pt x="0" y="350738"/>
                </a:lnTo>
                <a:lnTo>
                  <a:pt x="0" y="0"/>
                </a:lnTo>
                <a:close/>
              </a:path>
            </a:pathLst>
          </a:custGeom>
          <a:blipFill>
            <a:blip r:embed="rId9"/>
            <a:stretch>
              <a:fillRect/>
            </a:stretch>
          </a:blipFill>
        </p:spPr>
        <p:txBody>
          <a:bodyPr/>
          <a:lstStyle/>
          <a:p>
            <a:endParaRPr lang="es-AR"/>
          </a:p>
        </p:txBody>
      </p:sp>
      <p:sp>
        <p:nvSpPr>
          <p:cNvPr id="10" name="TextBox 10"/>
          <p:cNvSpPr txBox="1"/>
          <p:nvPr/>
        </p:nvSpPr>
        <p:spPr>
          <a:xfrm>
            <a:off x="16690915" y="8642290"/>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FFFFFF"/>
                </a:solidFill>
                <a:latin typeface="Open Sans"/>
                <a:ea typeface="Open Sans"/>
                <a:cs typeface="Open Sans"/>
                <a:sym typeface="Open Sans"/>
              </a:rPr>
              <a:t>3</a:t>
            </a:r>
          </a:p>
        </p:txBody>
      </p:sp>
      <p:sp>
        <p:nvSpPr>
          <p:cNvPr id="11" name="TextBox 11"/>
          <p:cNvSpPr txBox="1"/>
          <p:nvPr/>
        </p:nvSpPr>
        <p:spPr>
          <a:xfrm>
            <a:off x="8002563" y="720567"/>
            <a:ext cx="2282875" cy="688961"/>
          </a:xfrm>
          <a:prstGeom prst="rect">
            <a:avLst/>
          </a:prstGeom>
        </p:spPr>
        <p:txBody>
          <a:bodyPr lIns="0" tIns="0" rIns="0" bIns="0" rtlCol="0" anchor="t">
            <a:spAutoFit/>
          </a:bodyPr>
          <a:lstStyle/>
          <a:p>
            <a:pPr algn="ctr">
              <a:lnSpc>
                <a:spcPts val="5600"/>
              </a:lnSpc>
            </a:pPr>
            <a:r>
              <a:rPr lang="en-US" sz="4000" b="1">
                <a:solidFill>
                  <a:srgbClr val="FFFFFF"/>
                </a:solidFill>
                <a:latin typeface="Open Sans Bold"/>
                <a:ea typeface="Open Sans Bold"/>
                <a:cs typeface="Open Sans Bold"/>
                <a:sym typeface="Open Sans Bold"/>
              </a:rPr>
              <a:t>npm init </a:t>
            </a:r>
          </a:p>
        </p:txBody>
      </p:sp>
      <p:sp>
        <p:nvSpPr>
          <p:cNvPr id="12" name="TextBox 12"/>
          <p:cNvSpPr txBox="1"/>
          <p:nvPr/>
        </p:nvSpPr>
        <p:spPr>
          <a:xfrm>
            <a:off x="5657069" y="1775180"/>
            <a:ext cx="6973863" cy="349250"/>
          </a:xfrm>
          <a:prstGeom prst="rect">
            <a:avLst/>
          </a:prstGeom>
        </p:spPr>
        <p:txBody>
          <a:bodyPr lIns="0" tIns="0" rIns="0" bIns="0" rtlCol="0" anchor="t">
            <a:spAutoFit/>
          </a:bodyPr>
          <a:lstStyle/>
          <a:p>
            <a:pPr algn="l">
              <a:lnSpc>
                <a:spcPts val="2800"/>
              </a:lnSpc>
              <a:spcBef>
                <a:spcPct val="0"/>
              </a:spcBef>
            </a:pPr>
            <a:r>
              <a:rPr lang="en-US" sz="2000">
                <a:solidFill>
                  <a:srgbClr val="FFFFFF"/>
                </a:solidFill>
                <a:latin typeface="Open Sans"/>
                <a:ea typeface="Open Sans"/>
                <a:cs typeface="Open Sans"/>
                <a:sym typeface="Open Sans"/>
              </a:rPr>
              <a:t>si ejecutas npm init sin -y te hace una serie de preguntas </a:t>
            </a:r>
          </a:p>
        </p:txBody>
      </p:sp>
      <p:sp>
        <p:nvSpPr>
          <p:cNvPr id="13" name="TextBox 13"/>
          <p:cNvSpPr txBox="1"/>
          <p:nvPr/>
        </p:nvSpPr>
        <p:spPr>
          <a:xfrm>
            <a:off x="2417963" y="2749069"/>
            <a:ext cx="711398" cy="349250"/>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Open Sans"/>
                <a:ea typeface="Open Sans"/>
                <a:cs typeface="Open Sans"/>
                <a:sym typeface="Open Sans"/>
              </a:rPr>
              <a:t>Name</a:t>
            </a:r>
          </a:p>
        </p:txBody>
      </p:sp>
      <p:sp>
        <p:nvSpPr>
          <p:cNvPr id="14" name="TextBox 14"/>
          <p:cNvSpPr txBox="1"/>
          <p:nvPr/>
        </p:nvSpPr>
        <p:spPr>
          <a:xfrm>
            <a:off x="2417963" y="3240482"/>
            <a:ext cx="891927" cy="349250"/>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Open Sans"/>
                <a:ea typeface="Open Sans"/>
                <a:cs typeface="Open Sans"/>
                <a:sym typeface="Open Sans"/>
              </a:rPr>
              <a:t>Versión</a:t>
            </a:r>
          </a:p>
        </p:txBody>
      </p:sp>
      <p:sp>
        <p:nvSpPr>
          <p:cNvPr id="15" name="TextBox 15"/>
          <p:cNvSpPr txBox="1"/>
          <p:nvPr/>
        </p:nvSpPr>
        <p:spPr>
          <a:xfrm>
            <a:off x="12300699" y="3259532"/>
            <a:ext cx="5608603" cy="488315"/>
          </a:xfrm>
          <a:prstGeom prst="rect">
            <a:avLst/>
          </a:prstGeom>
        </p:spPr>
        <p:txBody>
          <a:bodyPr lIns="0" tIns="0" rIns="0" bIns="0" rtlCol="0" anchor="t">
            <a:spAutoFit/>
          </a:bodyPr>
          <a:lstStyle/>
          <a:p>
            <a:pPr algn="l">
              <a:lnSpc>
                <a:spcPts val="1960"/>
              </a:lnSpc>
              <a:spcBef>
                <a:spcPct val="0"/>
              </a:spcBef>
            </a:pPr>
            <a:r>
              <a:rPr lang="en-US" sz="1400">
                <a:solidFill>
                  <a:srgbClr val="FFFFFF"/>
                </a:solidFill>
                <a:latin typeface="Open Sans"/>
                <a:ea typeface="Open Sans"/>
                <a:cs typeface="Open Sans"/>
                <a:sym typeface="Open Sans"/>
              </a:rPr>
              <a:t>¿Qué es: versión semántica (SemVer) en formato MAJOR.MINOR.PATCH </a:t>
            </a:r>
          </a:p>
        </p:txBody>
      </p:sp>
      <p:sp>
        <p:nvSpPr>
          <p:cNvPr id="16" name="TextBox 16"/>
          <p:cNvSpPr txBox="1"/>
          <p:nvPr/>
        </p:nvSpPr>
        <p:spPr>
          <a:xfrm>
            <a:off x="2417442" y="3916121"/>
            <a:ext cx="1423839" cy="349250"/>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Open Sans"/>
                <a:ea typeface="Open Sans"/>
                <a:cs typeface="Open Sans"/>
                <a:sym typeface="Open Sans"/>
              </a:rPr>
              <a:t>Description:</a:t>
            </a:r>
          </a:p>
        </p:txBody>
      </p:sp>
      <p:sp>
        <p:nvSpPr>
          <p:cNvPr id="17" name="TextBox 17"/>
          <p:cNvSpPr txBox="1"/>
          <p:nvPr/>
        </p:nvSpPr>
        <p:spPr>
          <a:xfrm>
            <a:off x="12300699" y="3938346"/>
            <a:ext cx="7395865" cy="488315"/>
          </a:xfrm>
          <a:prstGeom prst="rect">
            <a:avLst/>
          </a:prstGeom>
        </p:spPr>
        <p:txBody>
          <a:bodyPr lIns="0" tIns="0" rIns="0" bIns="0" rtlCol="0" anchor="t">
            <a:spAutoFit/>
          </a:bodyPr>
          <a:lstStyle/>
          <a:p>
            <a:pPr algn="l">
              <a:lnSpc>
                <a:spcPts val="1960"/>
              </a:lnSpc>
              <a:spcBef>
                <a:spcPct val="0"/>
              </a:spcBef>
            </a:pPr>
            <a:r>
              <a:rPr lang="en-US" sz="1400">
                <a:solidFill>
                  <a:srgbClr val="FFFFFF"/>
                </a:solidFill>
                <a:latin typeface="Open Sans"/>
                <a:ea typeface="Open Sans"/>
                <a:cs typeface="Open Sans"/>
                <a:sym typeface="Open Sans"/>
              </a:rPr>
              <a:t>breve descripción humana del proyecto</a:t>
            </a:r>
          </a:p>
          <a:p>
            <a:pPr algn="l">
              <a:lnSpc>
                <a:spcPts val="1960"/>
              </a:lnSpc>
              <a:spcBef>
                <a:spcPct val="0"/>
              </a:spcBef>
            </a:pPr>
            <a:r>
              <a:rPr lang="en-US" sz="1400">
                <a:solidFill>
                  <a:srgbClr val="FFFFFF"/>
                </a:solidFill>
                <a:latin typeface="Open Sans"/>
                <a:ea typeface="Open Sans"/>
                <a:cs typeface="Open Sans"/>
                <a:sym typeface="Open Sans"/>
              </a:rPr>
              <a:t>Se indexa la búsqueda de npm/otros motores; útil para que otros entiendan el propósito.</a:t>
            </a:r>
          </a:p>
        </p:txBody>
      </p:sp>
      <p:sp>
        <p:nvSpPr>
          <p:cNvPr id="18" name="TextBox 18"/>
          <p:cNvSpPr txBox="1"/>
          <p:nvPr/>
        </p:nvSpPr>
        <p:spPr>
          <a:xfrm>
            <a:off x="2417963" y="4945063"/>
            <a:ext cx="2287786" cy="349250"/>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Open Sans"/>
                <a:ea typeface="Open Sans"/>
                <a:cs typeface="Open Sans"/>
                <a:sym typeface="Open Sans"/>
              </a:rPr>
              <a:t>entry point → main</a:t>
            </a:r>
          </a:p>
        </p:txBody>
      </p:sp>
      <p:sp>
        <p:nvSpPr>
          <p:cNvPr id="19" name="TextBox 19"/>
          <p:cNvSpPr txBox="1"/>
          <p:nvPr/>
        </p:nvSpPr>
        <p:spPr>
          <a:xfrm>
            <a:off x="11406060" y="4904228"/>
            <a:ext cx="6264452" cy="534137"/>
          </a:xfrm>
          <a:prstGeom prst="rect">
            <a:avLst/>
          </a:prstGeom>
        </p:spPr>
        <p:txBody>
          <a:bodyPr lIns="0" tIns="0" rIns="0" bIns="0" rtlCol="0" anchor="t">
            <a:spAutoFit/>
          </a:bodyPr>
          <a:lstStyle/>
          <a:p>
            <a:pPr algn="l">
              <a:lnSpc>
                <a:spcPts val="1400"/>
              </a:lnSpc>
              <a:spcBef>
                <a:spcPct val="0"/>
              </a:spcBef>
            </a:pPr>
            <a:r>
              <a:rPr lang="en-US" sz="1000">
                <a:solidFill>
                  <a:srgbClr val="FFFFFF"/>
                </a:solidFill>
                <a:latin typeface="Open Sans"/>
                <a:ea typeface="Open Sans"/>
                <a:cs typeface="Open Sans"/>
                <a:sym typeface="Open Sans"/>
              </a:rPr>
              <a:t>El "entry point" (punto de entrada) en npm init se refiere a la propiedad "main" en el archivo package.json que especifica el archivo JavaScript principal de tu proyecto, es decir, el archivo que se ejecutará primero cuando alguien use tu módulo o aplicación. </a:t>
            </a:r>
          </a:p>
        </p:txBody>
      </p:sp>
      <p:sp>
        <p:nvSpPr>
          <p:cNvPr id="20" name="TextBox 20"/>
          <p:cNvSpPr txBox="1"/>
          <p:nvPr/>
        </p:nvSpPr>
        <p:spPr>
          <a:xfrm>
            <a:off x="12300699" y="2826509"/>
            <a:ext cx="5608603" cy="240665"/>
          </a:xfrm>
          <a:prstGeom prst="rect">
            <a:avLst/>
          </a:prstGeom>
        </p:spPr>
        <p:txBody>
          <a:bodyPr lIns="0" tIns="0" rIns="0" bIns="0" rtlCol="0" anchor="t">
            <a:spAutoFit/>
          </a:bodyPr>
          <a:lstStyle/>
          <a:p>
            <a:pPr algn="l">
              <a:lnSpc>
                <a:spcPts val="1960"/>
              </a:lnSpc>
              <a:spcBef>
                <a:spcPct val="0"/>
              </a:spcBef>
            </a:pPr>
            <a:r>
              <a:rPr lang="en-US" sz="1400">
                <a:solidFill>
                  <a:srgbClr val="FFFFFF"/>
                </a:solidFill>
                <a:latin typeface="Open Sans"/>
                <a:ea typeface="Open Sans"/>
                <a:cs typeface="Open Sans"/>
                <a:sym typeface="Open Sans"/>
              </a:rPr>
              <a:t>el identificador de tu paquete (lo que aparecerá en npm si públicas)</a:t>
            </a:r>
          </a:p>
        </p:txBody>
      </p:sp>
      <p:sp>
        <p:nvSpPr>
          <p:cNvPr id="21" name="TextBox 21"/>
          <p:cNvSpPr txBox="1"/>
          <p:nvPr/>
        </p:nvSpPr>
        <p:spPr>
          <a:xfrm>
            <a:off x="12300699" y="5800316"/>
            <a:ext cx="5704000" cy="597416"/>
          </a:xfrm>
          <a:prstGeom prst="rect">
            <a:avLst/>
          </a:prstGeom>
        </p:spPr>
        <p:txBody>
          <a:bodyPr lIns="0" tIns="0" rIns="0" bIns="0" rtlCol="0" anchor="t">
            <a:spAutoFit/>
          </a:bodyPr>
          <a:lstStyle/>
          <a:p>
            <a:pPr algn="l">
              <a:lnSpc>
                <a:spcPts val="1605"/>
              </a:lnSpc>
              <a:spcBef>
                <a:spcPct val="0"/>
              </a:spcBef>
            </a:pPr>
            <a:r>
              <a:rPr lang="en-US" sz="1146">
                <a:solidFill>
                  <a:srgbClr val="FFFFFF"/>
                </a:solidFill>
                <a:latin typeface="Open Sans"/>
                <a:ea typeface="Open Sans"/>
                <a:cs typeface="Open Sans"/>
                <a:sym typeface="Open Sans"/>
              </a:rPr>
              <a:t>El test command generado por npm init es el valor predeterminado del campo "test" en el archivo package.json, diseñado para ser un marcador de posición para ejecutar tus pruebas con un comando </a:t>
            </a:r>
          </a:p>
        </p:txBody>
      </p:sp>
      <p:sp>
        <p:nvSpPr>
          <p:cNvPr id="22" name="TextBox 22"/>
          <p:cNvSpPr txBox="1"/>
          <p:nvPr/>
        </p:nvSpPr>
        <p:spPr>
          <a:xfrm>
            <a:off x="2417442" y="6500919"/>
            <a:ext cx="1574155" cy="349250"/>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Open Sans"/>
                <a:ea typeface="Open Sans"/>
                <a:cs typeface="Open Sans"/>
                <a:sym typeface="Open Sans"/>
              </a:rPr>
              <a:t>git repository</a:t>
            </a:r>
          </a:p>
        </p:txBody>
      </p:sp>
      <p:sp>
        <p:nvSpPr>
          <p:cNvPr id="23" name="TextBox 23"/>
          <p:cNvSpPr txBox="1"/>
          <p:nvPr/>
        </p:nvSpPr>
        <p:spPr>
          <a:xfrm>
            <a:off x="2417442" y="5733641"/>
            <a:ext cx="1708249" cy="349250"/>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Open Sans"/>
                <a:ea typeface="Open Sans"/>
                <a:cs typeface="Open Sans"/>
                <a:sym typeface="Open Sans"/>
              </a:rPr>
              <a:t>test command</a:t>
            </a:r>
          </a:p>
        </p:txBody>
      </p:sp>
      <p:sp>
        <p:nvSpPr>
          <p:cNvPr id="24" name="TextBox 24"/>
          <p:cNvSpPr txBox="1"/>
          <p:nvPr/>
        </p:nvSpPr>
        <p:spPr>
          <a:xfrm>
            <a:off x="11406060" y="6638397"/>
            <a:ext cx="2635597" cy="240665"/>
          </a:xfrm>
          <a:prstGeom prst="rect">
            <a:avLst/>
          </a:prstGeom>
        </p:spPr>
        <p:txBody>
          <a:bodyPr lIns="0" tIns="0" rIns="0" bIns="0" rtlCol="0" anchor="t">
            <a:spAutoFit/>
          </a:bodyPr>
          <a:lstStyle/>
          <a:p>
            <a:pPr algn="ctr">
              <a:lnSpc>
                <a:spcPts val="1960"/>
              </a:lnSpc>
              <a:spcBef>
                <a:spcPct val="0"/>
              </a:spcBef>
            </a:pPr>
            <a:r>
              <a:rPr lang="en-US" sz="1400">
                <a:solidFill>
                  <a:srgbClr val="FFFFFF"/>
                </a:solidFill>
                <a:latin typeface="Open Sans"/>
                <a:ea typeface="Open Sans"/>
                <a:cs typeface="Open Sans"/>
                <a:sym typeface="Open Sans"/>
              </a:rPr>
              <a:t>URL o objeto que indica el repo </a:t>
            </a:r>
          </a:p>
        </p:txBody>
      </p:sp>
      <p:sp>
        <p:nvSpPr>
          <p:cNvPr id="25" name="TextBox 25"/>
          <p:cNvSpPr txBox="1"/>
          <p:nvPr/>
        </p:nvSpPr>
        <p:spPr>
          <a:xfrm>
            <a:off x="2417442" y="7526444"/>
            <a:ext cx="1135112" cy="349250"/>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Open Sans"/>
                <a:ea typeface="Open Sans"/>
                <a:cs typeface="Open Sans"/>
                <a:sym typeface="Open Sans"/>
              </a:rPr>
              <a:t>keywords</a:t>
            </a:r>
          </a:p>
        </p:txBody>
      </p:sp>
      <p:sp>
        <p:nvSpPr>
          <p:cNvPr id="26" name="TextBox 26"/>
          <p:cNvSpPr txBox="1"/>
          <p:nvPr/>
        </p:nvSpPr>
        <p:spPr>
          <a:xfrm>
            <a:off x="11099705" y="7757016"/>
            <a:ext cx="6598639" cy="240665"/>
          </a:xfrm>
          <a:prstGeom prst="rect">
            <a:avLst/>
          </a:prstGeom>
        </p:spPr>
        <p:txBody>
          <a:bodyPr lIns="0" tIns="0" rIns="0" bIns="0" rtlCol="0" anchor="t">
            <a:spAutoFit/>
          </a:bodyPr>
          <a:lstStyle/>
          <a:p>
            <a:pPr algn="l">
              <a:lnSpc>
                <a:spcPts val="1960"/>
              </a:lnSpc>
              <a:spcBef>
                <a:spcPct val="0"/>
              </a:spcBef>
            </a:pPr>
            <a:r>
              <a:rPr lang="en-US" sz="1400">
                <a:solidFill>
                  <a:srgbClr val="FFFFFF"/>
                </a:solidFill>
                <a:latin typeface="Open Sans"/>
                <a:ea typeface="Open Sans"/>
                <a:cs typeface="Open Sans"/>
                <a:sym typeface="Open Sans"/>
              </a:rPr>
              <a:t>array de palabras clave para mejorar descubrimiento (búsqueda en npm)</a:t>
            </a:r>
          </a:p>
        </p:txBody>
      </p:sp>
      <p:sp>
        <p:nvSpPr>
          <p:cNvPr id="27" name="TextBox 27"/>
          <p:cNvSpPr txBox="1"/>
          <p:nvPr/>
        </p:nvSpPr>
        <p:spPr>
          <a:xfrm>
            <a:off x="11271928" y="8473155"/>
            <a:ext cx="5186415" cy="488315"/>
          </a:xfrm>
          <a:prstGeom prst="rect">
            <a:avLst/>
          </a:prstGeom>
        </p:spPr>
        <p:txBody>
          <a:bodyPr lIns="0" tIns="0" rIns="0" bIns="0" rtlCol="0" anchor="t">
            <a:spAutoFit/>
          </a:bodyPr>
          <a:lstStyle/>
          <a:p>
            <a:pPr algn="l">
              <a:lnSpc>
                <a:spcPts val="1960"/>
              </a:lnSpc>
              <a:spcBef>
                <a:spcPct val="0"/>
              </a:spcBef>
            </a:pPr>
            <a:r>
              <a:rPr lang="en-US" sz="1400">
                <a:solidFill>
                  <a:srgbClr val="FFFFFF"/>
                </a:solidFill>
                <a:latin typeface="Open Sans"/>
                <a:ea typeface="Open Sans"/>
                <a:cs typeface="Open Sans"/>
                <a:sym typeface="Open Sans"/>
              </a:rPr>
              <a:t>Es un conjunto de reglas legales que indican qué se puede hacer con tu código (usarlo, modificarlo, redistribuirlo, etc.).</a:t>
            </a:r>
          </a:p>
        </p:txBody>
      </p:sp>
      <p:sp>
        <p:nvSpPr>
          <p:cNvPr id="28" name="TextBox 28"/>
          <p:cNvSpPr txBox="1"/>
          <p:nvPr/>
        </p:nvSpPr>
        <p:spPr>
          <a:xfrm>
            <a:off x="2417442" y="8454105"/>
            <a:ext cx="1062782" cy="349250"/>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Open Sans"/>
                <a:ea typeface="Open Sans"/>
                <a:cs typeface="Open Sans"/>
                <a:sym typeface="Open Sans"/>
              </a:rPr>
              <a:t>Licencias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555555">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6699854" y="2508912"/>
            <a:ext cx="4684712" cy="5574546"/>
          </a:xfrm>
          <a:custGeom>
            <a:avLst/>
            <a:gdLst/>
            <a:ahLst/>
            <a:cxnLst/>
            <a:rect l="l" t="t" r="r" b="b"/>
            <a:pathLst>
              <a:path w="4684712" h="5574546">
                <a:moveTo>
                  <a:pt x="0" y="0"/>
                </a:moveTo>
                <a:lnTo>
                  <a:pt x="4684712" y="0"/>
                </a:lnTo>
                <a:lnTo>
                  <a:pt x="4684712" y="5574545"/>
                </a:lnTo>
                <a:lnTo>
                  <a:pt x="0" y="5574545"/>
                </a:lnTo>
                <a:lnTo>
                  <a:pt x="0" y="0"/>
                </a:lnTo>
                <a:close/>
              </a:path>
            </a:pathLst>
          </a:custGeom>
          <a:blipFill>
            <a:blip r:embed="rId2"/>
            <a:stretch>
              <a:fillRect/>
            </a:stretch>
          </a:blipFill>
        </p:spPr>
        <p:txBody>
          <a:bodyPr/>
          <a:lstStyle/>
          <a:p>
            <a:endParaRPr lang="es-AR"/>
          </a:p>
        </p:txBody>
      </p:sp>
      <p:sp>
        <p:nvSpPr>
          <p:cNvPr id="3" name="TextBox 3"/>
          <p:cNvSpPr txBox="1"/>
          <p:nvPr/>
        </p:nvSpPr>
        <p:spPr>
          <a:xfrm>
            <a:off x="16690915" y="8642290"/>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FFFFFF"/>
                </a:solidFill>
                <a:latin typeface="Open Sans"/>
                <a:ea typeface="Open Sans"/>
                <a:cs typeface="Open Sans"/>
                <a:sym typeface="Open Sans"/>
              </a:rPr>
              <a:t>4</a:t>
            </a:r>
          </a:p>
        </p:txBody>
      </p:sp>
      <p:sp>
        <p:nvSpPr>
          <p:cNvPr id="4" name="TextBox 4"/>
          <p:cNvSpPr txBox="1"/>
          <p:nvPr/>
        </p:nvSpPr>
        <p:spPr>
          <a:xfrm>
            <a:off x="6717878" y="664909"/>
            <a:ext cx="5496967" cy="688999"/>
          </a:xfrm>
          <a:prstGeom prst="rect">
            <a:avLst/>
          </a:prstGeom>
        </p:spPr>
        <p:txBody>
          <a:bodyPr lIns="0" tIns="0" rIns="0" bIns="0" rtlCol="0" anchor="t">
            <a:spAutoFit/>
          </a:bodyPr>
          <a:lstStyle/>
          <a:p>
            <a:pPr algn="ctr">
              <a:lnSpc>
                <a:spcPts val="5600"/>
              </a:lnSpc>
            </a:pPr>
            <a:r>
              <a:rPr lang="en-US" sz="4000" b="1">
                <a:solidFill>
                  <a:srgbClr val="FFFFFF"/>
                </a:solidFill>
                <a:latin typeface="Open Sans Bold"/>
                <a:ea typeface="Open Sans Bold"/>
                <a:cs typeface="Open Sans Bold"/>
                <a:sym typeface="Open Sans Bold"/>
              </a:rPr>
              <a:t>Nuestro package.json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555555">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140170" y="3217226"/>
            <a:ext cx="7512769" cy="2135372"/>
          </a:xfrm>
          <a:custGeom>
            <a:avLst/>
            <a:gdLst/>
            <a:ahLst/>
            <a:cxnLst/>
            <a:rect l="l" t="t" r="r" b="b"/>
            <a:pathLst>
              <a:path w="7512769" h="2135372">
                <a:moveTo>
                  <a:pt x="0" y="0"/>
                </a:moveTo>
                <a:lnTo>
                  <a:pt x="7512769" y="0"/>
                </a:lnTo>
                <a:lnTo>
                  <a:pt x="7512769" y="2135373"/>
                </a:lnTo>
                <a:lnTo>
                  <a:pt x="0" y="2135373"/>
                </a:lnTo>
                <a:lnTo>
                  <a:pt x="0" y="0"/>
                </a:lnTo>
                <a:close/>
              </a:path>
            </a:pathLst>
          </a:custGeom>
          <a:blipFill>
            <a:blip r:embed="rId2"/>
            <a:stretch>
              <a:fillRect/>
            </a:stretch>
          </a:blipFill>
        </p:spPr>
        <p:txBody>
          <a:bodyPr/>
          <a:lstStyle/>
          <a:p>
            <a:endParaRPr lang="es-AR"/>
          </a:p>
        </p:txBody>
      </p:sp>
      <p:sp>
        <p:nvSpPr>
          <p:cNvPr id="3" name="Freeform 3"/>
          <p:cNvSpPr/>
          <p:nvPr/>
        </p:nvSpPr>
        <p:spPr>
          <a:xfrm>
            <a:off x="9746531" y="3304089"/>
            <a:ext cx="6417154" cy="2048510"/>
          </a:xfrm>
          <a:custGeom>
            <a:avLst/>
            <a:gdLst/>
            <a:ahLst/>
            <a:cxnLst/>
            <a:rect l="l" t="t" r="r" b="b"/>
            <a:pathLst>
              <a:path w="6417154" h="2048510">
                <a:moveTo>
                  <a:pt x="0" y="0"/>
                </a:moveTo>
                <a:lnTo>
                  <a:pt x="6417154" y="0"/>
                </a:lnTo>
                <a:lnTo>
                  <a:pt x="6417154" y="2048510"/>
                </a:lnTo>
                <a:lnTo>
                  <a:pt x="0" y="2048510"/>
                </a:lnTo>
                <a:lnTo>
                  <a:pt x="0" y="0"/>
                </a:lnTo>
                <a:close/>
              </a:path>
            </a:pathLst>
          </a:custGeom>
          <a:blipFill>
            <a:blip r:embed="rId3"/>
            <a:stretch>
              <a:fillRect/>
            </a:stretch>
          </a:blipFill>
        </p:spPr>
        <p:txBody>
          <a:bodyPr/>
          <a:lstStyle/>
          <a:p>
            <a:endParaRPr lang="es-AR"/>
          </a:p>
        </p:txBody>
      </p:sp>
      <p:sp>
        <p:nvSpPr>
          <p:cNvPr id="4" name="TextBox 4"/>
          <p:cNvSpPr txBox="1"/>
          <p:nvPr/>
        </p:nvSpPr>
        <p:spPr>
          <a:xfrm>
            <a:off x="16690915" y="8642290"/>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FFFFFF"/>
                </a:solidFill>
                <a:latin typeface="Open Sans"/>
                <a:ea typeface="Open Sans"/>
                <a:cs typeface="Open Sans"/>
                <a:sym typeface="Open Sans"/>
              </a:rPr>
              <a:t>5</a:t>
            </a:r>
          </a:p>
        </p:txBody>
      </p:sp>
      <p:sp>
        <p:nvSpPr>
          <p:cNvPr id="5" name="TextBox 5"/>
          <p:cNvSpPr txBox="1"/>
          <p:nvPr/>
        </p:nvSpPr>
        <p:spPr>
          <a:xfrm>
            <a:off x="8541469" y="720567"/>
            <a:ext cx="1205061" cy="688961"/>
          </a:xfrm>
          <a:prstGeom prst="rect">
            <a:avLst/>
          </a:prstGeom>
        </p:spPr>
        <p:txBody>
          <a:bodyPr lIns="0" tIns="0" rIns="0" bIns="0" rtlCol="0" anchor="t">
            <a:spAutoFit/>
          </a:bodyPr>
          <a:lstStyle/>
          <a:p>
            <a:pPr algn="ctr">
              <a:lnSpc>
                <a:spcPts val="5600"/>
              </a:lnSpc>
            </a:pPr>
            <a:r>
              <a:rPr lang="en-US" sz="4000" b="1">
                <a:solidFill>
                  <a:srgbClr val="FFFFFF"/>
                </a:solidFill>
                <a:latin typeface="Open Sans Bold"/>
                <a:ea typeface="Open Sans Bold"/>
                <a:cs typeface="Open Sans Bold"/>
                <a:sym typeface="Open Sans Bold"/>
              </a:rPr>
              <a:t>Type</a:t>
            </a:r>
          </a:p>
        </p:txBody>
      </p:sp>
      <p:sp>
        <p:nvSpPr>
          <p:cNvPr id="6" name="TextBox 6"/>
          <p:cNvSpPr txBox="1"/>
          <p:nvPr/>
        </p:nvSpPr>
        <p:spPr>
          <a:xfrm>
            <a:off x="1028700" y="1600014"/>
            <a:ext cx="6973863" cy="349250"/>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Open Sans"/>
                <a:ea typeface="Open Sans"/>
                <a:cs typeface="Open Sans"/>
                <a:sym typeface="Open Sans"/>
              </a:rPr>
              <a:t>Commonjs</a:t>
            </a:r>
          </a:p>
        </p:txBody>
      </p:sp>
      <p:sp>
        <p:nvSpPr>
          <p:cNvPr id="7" name="TextBox 7"/>
          <p:cNvSpPr txBox="1"/>
          <p:nvPr/>
        </p:nvSpPr>
        <p:spPr>
          <a:xfrm>
            <a:off x="9746531" y="1600014"/>
            <a:ext cx="6973863" cy="349250"/>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Open Sans"/>
                <a:ea typeface="Open Sans"/>
                <a:cs typeface="Open Sans"/>
                <a:sym typeface="Open Sans"/>
              </a:rPr>
              <a:t>Modules</a:t>
            </a:r>
          </a:p>
        </p:txBody>
      </p:sp>
      <p:sp>
        <p:nvSpPr>
          <p:cNvPr id="8" name="TextBox 8"/>
          <p:cNvSpPr txBox="1"/>
          <p:nvPr/>
        </p:nvSpPr>
        <p:spPr>
          <a:xfrm>
            <a:off x="1140170" y="2540502"/>
            <a:ext cx="7512769" cy="349250"/>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Open Sans"/>
                <a:ea typeface="Open Sans"/>
                <a:cs typeface="Open Sans"/>
                <a:sym typeface="Open Sans"/>
              </a:rPr>
              <a:t>CommonJS, antiguo y síncrono, usa require() y module.exports</a:t>
            </a:r>
          </a:p>
        </p:txBody>
      </p:sp>
      <p:sp>
        <p:nvSpPr>
          <p:cNvPr id="9" name="TextBox 9"/>
          <p:cNvSpPr txBox="1"/>
          <p:nvPr/>
        </p:nvSpPr>
        <p:spPr>
          <a:xfrm>
            <a:off x="9746531" y="2364289"/>
            <a:ext cx="8405371" cy="701675"/>
          </a:xfrm>
          <a:prstGeom prst="rect">
            <a:avLst/>
          </a:prstGeom>
        </p:spPr>
        <p:txBody>
          <a:bodyPr lIns="0" tIns="0" rIns="0" bIns="0" rtlCol="0" anchor="t">
            <a:spAutoFit/>
          </a:bodyPr>
          <a:lstStyle/>
          <a:p>
            <a:pPr algn="l">
              <a:lnSpc>
                <a:spcPts val="2800"/>
              </a:lnSpc>
              <a:spcBef>
                <a:spcPct val="0"/>
              </a:spcBef>
            </a:pPr>
            <a:r>
              <a:rPr lang="en-US" sz="2000">
                <a:solidFill>
                  <a:srgbClr val="FFFFFF"/>
                </a:solidFill>
                <a:latin typeface="Open Sans"/>
                <a:ea typeface="Open Sans"/>
                <a:cs typeface="Open Sans"/>
                <a:sym typeface="Open Sans"/>
              </a:rPr>
              <a:t>ES Modules es el estándar moderno, asíncrono y estático, que utiliza import y export y es compatible con navegadores y Node.js</a:t>
            </a:r>
          </a:p>
        </p:txBody>
      </p:sp>
      <p:sp>
        <p:nvSpPr>
          <p:cNvPr id="10" name="TextBox 10"/>
          <p:cNvSpPr txBox="1"/>
          <p:nvPr/>
        </p:nvSpPr>
        <p:spPr>
          <a:xfrm>
            <a:off x="1140170" y="5562149"/>
            <a:ext cx="7512769" cy="1277098"/>
          </a:xfrm>
          <a:prstGeom prst="rect">
            <a:avLst/>
          </a:prstGeom>
        </p:spPr>
        <p:txBody>
          <a:bodyPr lIns="0" tIns="0" rIns="0" bIns="0" rtlCol="0" anchor="t">
            <a:spAutoFit/>
          </a:bodyPr>
          <a:lstStyle/>
          <a:p>
            <a:pPr algn="l">
              <a:lnSpc>
                <a:spcPts val="2058"/>
              </a:lnSpc>
              <a:spcBef>
                <a:spcPct val="0"/>
              </a:spcBef>
            </a:pPr>
            <a:r>
              <a:rPr lang="en-US" sz="1470">
                <a:solidFill>
                  <a:srgbClr val="FFFFFF"/>
                </a:solidFill>
                <a:latin typeface="Open Sans"/>
                <a:ea typeface="Open Sans"/>
                <a:cs typeface="Open Sans"/>
                <a:sym typeface="Open Sans"/>
              </a:rPr>
              <a:t>estos require() son creados por NodeJS y no son compatibles directamente en navegadores, salvo que se preprocese o transpile antes con alguna herramienta como podría ser un empaquetador o automatizador del estilo de Webpack, Parcel, Rollup, Babel o similar. Estas herramientas buscan los require() y los sustituyen por el código del fichero correspondiente</a:t>
            </a:r>
          </a:p>
        </p:txBody>
      </p:sp>
      <p:sp>
        <p:nvSpPr>
          <p:cNvPr id="11" name="TextBox 11"/>
          <p:cNvSpPr txBox="1"/>
          <p:nvPr/>
        </p:nvSpPr>
        <p:spPr>
          <a:xfrm>
            <a:off x="9746531" y="5790749"/>
            <a:ext cx="8405371" cy="699236"/>
          </a:xfrm>
          <a:prstGeom prst="rect">
            <a:avLst/>
          </a:prstGeom>
        </p:spPr>
        <p:txBody>
          <a:bodyPr lIns="0" tIns="0" rIns="0" bIns="0" rtlCol="0" anchor="t">
            <a:spAutoFit/>
          </a:bodyPr>
          <a:lstStyle/>
          <a:p>
            <a:pPr algn="l">
              <a:lnSpc>
                <a:spcPts val="1865"/>
              </a:lnSpc>
              <a:spcBef>
                <a:spcPct val="0"/>
              </a:spcBef>
            </a:pPr>
            <a:r>
              <a:rPr lang="en-US" sz="1332">
                <a:solidFill>
                  <a:srgbClr val="FFFFFF"/>
                </a:solidFill>
                <a:latin typeface="Open Sans"/>
                <a:ea typeface="Open Sans"/>
                <a:cs typeface="Open Sans"/>
                <a:sym typeface="Open Sans"/>
              </a:rPr>
              <a:t>Este sistema de módulos nativo por fin nos permite cargar módulos externos con una sintaxis simple y de forma síncrona y asíncrona. Eso sí, con una pequeña pega que seguiremos sufriendo durante un tiempo: esperar que la industria y ecosistema Javascript vaya abandonando CommonJS a favor de ESM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555555">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2741281" y="2732535"/>
            <a:ext cx="4522270" cy="3514239"/>
          </a:xfrm>
          <a:custGeom>
            <a:avLst/>
            <a:gdLst/>
            <a:ahLst/>
            <a:cxnLst/>
            <a:rect l="l" t="t" r="r" b="b"/>
            <a:pathLst>
              <a:path w="4522270" h="3514239">
                <a:moveTo>
                  <a:pt x="0" y="0"/>
                </a:moveTo>
                <a:lnTo>
                  <a:pt x="4522270" y="0"/>
                </a:lnTo>
                <a:lnTo>
                  <a:pt x="4522270" y="3514239"/>
                </a:lnTo>
                <a:lnTo>
                  <a:pt x="0" y="3514239"/>
                </a:lnTo>
                <a:lnTo>
                  <a:pt x="0" y="0"/>
                </a:lnTo>
                <a:close/>
              </a:path>
            </a:pathLst>
          </a:custGeom>
          <a:blipFill>
            <a:blip r:embed="rId2"/>
            <a:stretch>
              <a:fillRect/>
            </a:stretch>
          </a:blipFill>
        </p:spPr>
        <p:txBody>
          <a:bodyPr/>
          <a:lstStyle/>
          <a:p>
            <a:endParaRPr lang="es-AR"/>
          </a:p>
        </p:txBody>
      </p:sp>
      <p:sp>
        <p:nvSpPr>
          <p:cNvPr id="3" name="Freeform 3"/>
          <p:cNvSpPr/>
          <p:nvPr/>
        </p:nvSpPr>
        <p:spPr>
          <a:xfrm>
            <a:off x="8921061" y="3911975"/>
            <a:ext cx="7605129" cy="1155360"/>
          </a:xfrm>
          <a:custGeom>
            <a:avLst/>
            <a:gdLst/>
            <a:ahLst/>
            <a:cxnLst/>
            <a:rect l="l" t="t" r="r" b="b"/>
            <a:pathLst>
              <a:path w="7605129" h="1155360">
                <a:moveTo>
                  <a:pt x="0" y="0"/>
                </a:moveTo>
                <a:lnTo>
                  <a:pt x="7605129" y="0"/>
                </a:lnTo>
                <a:lnTo>
                  <a:pt x="7605129" y="1155360"/>
                </a:lnTo>
                <a:lnTo>
                  <a:pt x="0" y="1155360"/>
                </a:lnTo>
                <a:lnTo>
                  <a:pt x="0" y="0"/>
                </a:lnTo>
                <a:close/>
              </a:path>
            </a:pathLst>
          </a:custGeom>
          <a:blipFill>
            <a:blip r:embed="rId3"/>
            <a:stretch>
              <a:fillRect t="-5513"/>
            </a:stretch>
          </a:blipFill>
        </p:spPr>
        <p:txBody>
          <a:bodyPr/>
          <a:lstStyle/>
          <a:p>
            <a:endParaRPr lang="es-AR"/>
          </a:p>
        </p:txBody>
      </p:sp>
      <p:sp>
        <p:nvSpPr>
          <p:cNvPr id="4" name="TextBox 4"/>
          <p:cNvSpPr txBox="1"/>
          <p:nvPr/>
        </p:nvSpPr>
        <p:spPr>
          <a:xfrm>
            <a:off x="17252986" y="9204361"/>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FFFFFF"/>
                </a:solidFill>
                <a:latin typeface="Open Sans"/>
                <a:ea typeface="Open Sans"/>
                <a:cs typeface="Open Sans"/>
                <a:sym typeface="Open Sans"/>
              </a:rPr>
              <a:t>6</a:t>
            </a:r>
          </a:p>
        </p:txBody>
      </p:sp>
      <p:sp>
        <p:nvSpPr>
          <p:cNvPr id="5" name="TextBox 5"/>
          <p:cNvSpPr txBox="1"/>
          <p:nvPr/>
        </p:nvSpPr>
        <p:spPr>
          <a:xfrm>
            <a:off x="5002416" y="641357"/>
            <a:ext cx="7837289" cy="688961"/>
          </a:xfrm>
          <a:prstGeom prst="rect">
            <a:avLst/>
          </a:prstGeom>
        </p:spPr>
        <p:txBody>
          <a:bodyPr lIns="0" tIns="0" rIns="0" bIns="0" rtlCol="0" anchor="t">
            <a:spAutoFit/>
          </a:bodyPr>
          <a:lstStyle/>
          <a:p>
            <a:pPr algn="ctr">
              <a:lnSpc>
                <a:spcPts val="5600"/>
              </a:lnSpc>
            </a:pPr>
            <a:r>
              <a:rPr lang="en-US" sz="4000" b="1">
                <a:solidFill>
                  <a:srgbClr val="FFFFFF"/>
                </a:solidFill>
                <a:latin typeface="Open Sans Bold"/>
                <a:ea typeface="Open Sans Bold"/>
                <a:cs typeface="Open Sans Bold"/>
                <a:sym typeface="Open Sans Bold"/>
              </a:rPr>
              <a:t>Importaciones y exportaciones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555555">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5315553" y="5396107"/>
            <a:ext cx="7943530" cy="3123628"/>
          </a:xfrm>
          <a:custGeom>
            <a:avLst/>
            <a:gdLst/>
            <a:ahLst/>
            <a:cxnLst/>
            <a:rect l="l" t="t" r="r" b="b"/>
            <a:pathLst>
              <a:path w="7943530" h="3123628">
                <a:moveTo>
                  <a:pt x="0" y="0"/>
                </a:moveTo>
                <a:lnTo>
                  <a:pt x="7943530" y="0"/>
                </a:lnTo>
                <a:lnTo>
                  <a:pt x="7943530" y="3123627"/>
                </a:lnTo>
                <a:lnTo>
                  <a:pt x="0" y="3123627"/>
                </a:lnTo>
                <a:lnTo>
                  <a:pt x="0" y="0"/>
                </a:lnTo>
                <a:close/>
              </a:path>
            </a:pathLst>
          </a:custGeom>
          <a:blipFill>
            <a:blip r:embed="rId2"/>
            <a:stretch>
              <a:fillRect/>
            </a:stretch>
          </a:blipFill>
        </p:spPr>
        <p:txBody>
          <a:bodyPr/>
          <a:lstStyle/>
          <a:p>
            <a:endParaRPr lang="es-AR"/>
          </a:p>
        </p:txBody>
      </p:sp>
      <p:sp>
        <p:nvSpPr>
          <p:cNvPr id="3" name="TextBox 3"/>
          <p:cNvSpPr txBox="1"/>
          <p:nvPr/>
        </p:nvSpPr>
        <p:spPr>
          <a:xfrm>
            <a:off x="17252986" y="9204361"/>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FFFFFF"/>
                </a:solidFill>
                <a:latin typeface="Open Sans"/>
                <a:ea typeface="Open Sans"/>
                <a:cs typeface="Open Sans"/>
                <a:sym typeface="Open Sans"/>
              </a:rPr>
              <a:t>7</a:t>
            </a:r>
          </a:p>
        </p:txBody>
      </p:sp>
      <p:sp>
        <p:nvSpPr>
          <p:cNvPr id="4" name="TextBox 4"/>
          <p:cNvSpPr txBox="1"/>
          <p:nvPr/>
        </p:nvSpPr>
        <p:spPr>
          <a:xfrm>
            <a:off x="8283253" y="720567"/>
            <a:ext cx="1721495" cy="688961"/>
          </a:xfrm>
          <a:prstGeom prst="rect">
            <a:avLst/>
          </a:prstGeom>
        </p:spPr>
        <p:txBody>
          <a:bodyPr lIns="0" tIns="0" rIns="0" bIns="0" rtlCol="0" anchor="t">
            <a:spAutoFit/>
          </a:bodyPr>
          <a:lstStyle/>
          <a:p>
            <a:pPr algn="ctr">
              <a:lnSpc>
                <a:spcPts val="5600"/>
              </a:lnSpc>
            </a:pPr>
            <a:r>
              <a:rPr lang="en-US" sz="4000" b="1">
                <a:solidFill>
                  <a:srgbClr val="FFFFFF"/>
                </a:solidFill>
                <a:latin typeface="Open Sans Bold"/>
                <a:ea typeface="Open Sans Bold"/>
                <a:cs typeface="Open Sans Bold"/>
                <a:sym typeface="Open Sans Bold"/>
              </a:rPr>
              <a:t>Scripts</a:t>
            </a:r>
          </a:p>
        </p:txBody>
      </p:sp>
      <p:sp>
        <p:nvSpPr>
          <p:cNvPr id="5" name="TextBox 5"/>
          <p:cNvSpPr txBox="1"/>
          <p:nvPr/>
        </p:nvSpPr>
        <p:spPr>
          <a:xfrm>
            <a:off x="4069999" y="2110547"/>
            <a:ext cx="10434638" cy="349250"/>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Open Sans"/>
                <a:ea typeface="Open Sans"/>
                <a:cs typeface="Open Sans"/>
                <a:sym typeface="Open Sans"/>
              </a:rPr>
              <a:t>Esta sección define comandos personalizados que podés ejecutar desde la terminal con:</a:t>
            </a:r>
          </a:p>
        </p:txBody>
      </p:sp>
      <p:sp>
        <p:nvSpPr>
          <p:cNvPr id="6" name="TextBox 6"/>
          <p:cNvSpPr txBox="1"/>
          <p:nvPr/>
        </p:nvSpPr>
        <p:spPr>
          <a:xfrm>
            <a:off x="7532415" y="2954532"/>
            <a:ext cx="3223171" cy="349250"/>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Open Sans"/>
                <a:ea typeface="Open Sans"/>
                <a:cs typeface="Open Sans"/>
                <a:sym typeface="Open Sans"/>
              </a:rPr>
              <a:t>npm run nombre-del-script</a:t>
            </a:r>
          </a:p>
        </p:txBody>
      </p:sp>
      <p:sp>
        <p:nvSpPr>
          <p:cNvPr id="7" name="TextBox 7"/>
          <p:cNvSpPr txBox="1"/>
          <p:nvPr/>
        </p:nvSpPr>
        <p:spPr>
          <a:xfrm>
            <a:off x="6884042" y="3799082"/>
            <a:ext cx="4806553" cy="1054100"/>
          </a:xfrm>
          <a:prstGeom prst="rect">
            <a:avLst/>
          </a:prstGeom>
        </p:spPr>
        <p:txBody>
          <a:bodyPr lIns="0" tIns="0" rIns="0" bIns="0" rtlCol="0" anchor="t">
            <a:spAutoFit/>
          </a:bodyPr>
          <a:lstStyle/>
          <a:p>
            <a:pPr marL="431801" lvl="1" indent="-215900" algn="l">
              <a:lnSpc>
                <a:spcPts val="2800"/>
              </a:lnSpc>
              <a:buFont typeface="Arial"/>
              <a:buChar char="•"/>
            </a:pPr>
            <a:r>
              <a:rPr lang="en-US" sz="2000">
                <a:solidFill>
                  <a:srgbClr val="FFFFFF"/>
                </a:solidFill>
                <a:latin typeface="Open Sans"/>
                <a:ea typeface="Open Sans"/>
                <a:cs typeface="Open Sans"/>
                <a:sym typeface="Open Sans"/>
              </a:rPr>
              <a:t>Ejecutar tu app (ej: npm start)</a:t>
            </a:r>
          </a:p>
          <a:p>
            <a:pPr marL="431801" lvl="1" indent="-215900" algn="l">
              <a:lnSpc>
                <a:spcPts val="2800"/>
              </a:lnSpc>
              <a:buFont typeface="Arial"/>
              <a:buChar char="•"/>
            </a:pPr>
            <a:r>
              <a:rPr lang="en-US" sz="2000">
                <a:solidFill>
                  <a:srgbClr val="FFFFFF"/>
                </a:solidFill>
                <a:latin typeface="Open Sans"/>
                <a:ea typeface="Open Sans"/>
                <a:cs typeface="Open Sans"/>
                <a:sym typeface="Open Sans"/>
              </a:rPr>
              <a:t>Levantar servidores locales</a:t>
            </a:r>
          </a:p>
          <a:p>
            <a:pPr marL="431801" lvl="1" indent="-215900" algn="l">
              <a:lnSpc>
                <a:spcPts val="2800"/>
              </a:lnSpc>
              <a:buFont typeface="Arial"/>
              <a:buChar char="•"/>
            </a:pPr>
            <a:r>
              <a:rPr lang="en-US" sz="2000">
                <a:solidFill>
                  <a:srgbClr val="FFFFFF"/>
                </a:solidFill>
                <a:latin typeface="Open Sans"/>
                <a:ea typeface="Open Sans"/>
                <a:cs typeface="Open Sans"/>
                <a:sym typeface="Open Sans"/>
              </a:rPr>
              <a:t>Lanzar múltiples comandos seguidos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555555">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9158371" y="2544495"/>
            <a:ext cx="7967221" cy="4790292"/>
          </a:xfrm>
          <a:custGeom>
            <a:avLst/>
            <a:gdLst/>
            <a:ahLst/>
            <a:cxnLst/>
            <a:rect l="l" t="t" r="r" b="b"/>
            <a:pathLst>
              <a:path w="7967221" h="4790292">
                <a:moveTo>
                  <a:pt x="0" y="0"/>
                </a:moveTo>
                <a:lnTo>
                  <a:pt x="7967221" y="0"/>
                </a:lnTo>
                <a:lnTo>
                  <a:pt x="7967221" y="4790292"/>
                </a:lnTo>
                <a:lnTo>
                  <a:pt x="0" y="4790292"/>
                </a:lnTo>
                <a:lnTo>
                  <a:pt x="0" y="0"/>
                </a:lnTo>
                <a:close/>
              </a:path>
            </a:pathLst>
          </a:custGeom>
          <a:blipFill>
            <a:blip r:embed="rId2"/>
            <a:stretch>
              <a:fillRect/>
            </a:stretch>
          </a:blipFill>
        </p:spPr>
        <p:txBody>
          <a:bodyPr/>
          <a:lstStyle/>
          <a:p>
            <a:endParaRPr lang="es-AR"/>
          </a:p>
        </p:txBody>
      </p:sp>
      <p:sp>
        <p:nvSpPr>
          <p:cNvPr id="3" name="TextBox 3"/>
          <p:cNvSpPr txBox="1"/>
          <p:nvPr/>
        </p:nvSpPr>
        <p:spPr>
          <a:xfrm>
            <a:off x="17125592" y="9076967"/>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FFFFFF"/>
                </a:solidFill>
                <a:latin typeface="Open Sans"/>
                <a:ea typeface="Open Sans"/>
                <a:cs typeface="Open Sans"/>
                <a:sym typeface="Open Sans"/>
              </a:rPr>
              <a:t>8</a:t>
            </a:r>
          </a:p>
        </p:txBody>
      </p:sp>
      <p:sp>
        <p:nvSpPr>
          <p:cNvPr id="4" name="TextBox 4"/>
          <p:cNvSpPr txBox="1"/>
          <p:nvPr/>
        </p:nvSpPr>
        <p:spPr>
          <a:xfrm>
            <a:off x="1028700" y="664909"/>
            <a:ext cx="16875323" cy="688961"/>
          </a:xfrm>
          <a:prstGeom prst="rect">
            <a:avLst/>
          </a:prstGeom>
        </p:spPr>
        <p:txBody>
          <a:bodyPr lIns="0" tIns="0" rIns="0" bIns="0" rtlCol="0" anchor="t">
            <a:spAutoFit/>
          </a:bodyPr>
          <a:lstStyle/>
          <a:p>
            <a:pPr algn="ctr">
              <a:lnSpc>
                <a:spcPts val="5600"/>
              </a:lnSpc>
            </a:pPr>
            <a:r>
              <a:rPr lang="en-US" sz="4000" b="1">
                <a:solidFill>
                  <a:srgbClr val="FFFFFF"/>
                </a:solidFill>
                <a:latin typeface="Open Sans Bold"/>
                <a:ea typeface="Open Sans Bold"/>
                <a:cs typeface="Open Sans Bold"/>
                <a:sym typeface="Open Sans Bold"/>
              </a:rPr>
              <a:t>¿Cuál es la diferencia entre el package.json y el package.lock.json? </a:t>
            </a:r>
          </a:p>
        </p:txBody>
      </p:sp>
      <p:sp>
        <p:nvSpPr>
          <p:cNvPr id="5" name="TextBox 5"/>
          <p:cNvSpPr txBox="1"/>
          <p:nvPr/>
        </p:nvSpPr>
        <p:spPr>
          <a:xfrm>
            <a:off x="1341706" y="2529248"/>
            <a:ext cx="4632783" cy="1406525"/>
          </a:xfrm>
          <a:prstGeom prst="rect">
            <a:avLst/>
          </a:prstGeom>
        </p:spPr>
        <p:txBody>
          <a:bodyPr lIns="0" tIns="0" rIns="0" bIns="0" rtlCol="0" anchor="t">
            <a:spAutoFit/>
          </a:bodyPr>
          <a:lstStyle/>
          <a:p>
            <a:pPr algn="l">
              <a:lnSpc>
                <a:spcPts val="2800"/>
              </a:lnSpc>
              <a:spcBef>
                <a:spcPct val="0"/>
              </a:spcBef>
            </a:pPr>
            <a:r>
              <a:rPr lang="en-US" sz="2000">
                <a:solidFill>
                  <a:srgbClr val="FFFFFF"/>
                </a:solidFill>
                <a:latin typeface="Open Sans"/>
                <a:ea typeface="Open Sans"/>
                <a:cs typeface="Open Sans"/>
                <a:sym typeface="Open Sans"/>
              </a:rPr>
              <a:t>En control de versiones, los números de versión suelen seguir el versionado semántico (SemVer), que usa el formato:</a:t>
            </a:r>
          </a:p>
        </p:txBody>
      </p:sp>
      <p:sp>
        <p:nvSpPr>
          <p:cNvPr id="6" name="TextBox 6"/>
          <p:cNvSpPr txBox="1"/>
          <p:nvPr/>
        </p:nvSpPr>
        <p:spPr>
          <a:xfrm>
            <a:off x="1341706" y="4324017"/>
            <a:ext cx="2595562" cy="349250"/>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Open Sans"/>
                <a:ea typeface="Open Sans"/>
                <a:cs typeface="Open Sans"/>
                <a:sym typeface="Open Sans"/>
              </a:rPr>
              <a:t>MAJOR.MINOR.PATCH</a:t>
            </a:r>
          </a:p>
        </p:txBody>
      </p:sp>
      <p:sp>
        <p:nvSpPr>
          <p:cNvPr id="7" name="TextBox 7"/>
          <p:cNvSpPr txBox="1"/>
          <p:nvPr/>
        </p:nvSpPr>
        <p:spPr>
          <a:xfrm>
            <a:off x="1341706" y="6904966"/>
            <a:ext cx="7092783" cy="701675"/>
          </a:xfrm>
          <a:prstGeom prst="rect">
            <a:avLst/>
          </a:prstGeom>
        </p:spPr>
        <p:txBody>
          <a:bodyPr lIns="0" tIns="0" rIns="0" bIns="0" rtlCol="0" anchor="t">
            <a:spAutoFit/>
          </a:bodyPr>
          <a:lstStyle/>
          <a:p>
            <a:pPr algn="l">
              <a:lnSpc>
                <a:spcPts val="2800"/>
              </a:lnSpc>
              <a:spcBef>
                <a:spcPct val="0"/>
              </a:spcBef>
            </a:pPr>
            <a:r>
              <a:rPr lang="en-US" sz="2000">
                <a:solidFill>
                  <a:srgbClr val="FFFFFF"/>
                </a:solidFill>
                <a:latin typeface="Open Sans"/>
                <a:ea typeface="Open Sans"/>
                <a:cs typeface="Open Sans"/>
                <a:sym typeface="Open Sans"/>
              </a:rPr>
              <a:t>PATCH (Parche) → Corrección de errores o mejoras menores sin cambiar funcionalidades.</a:t>
            </a:r>
          </a:p>
        </p:txBody>
      </p:sp>
      <p:sp>
        <p:nvSpPr>
          <p:cNvPr id="8" name="TextBox 8"/>
          <p:cNvSpPr txBox="1"/>
          <p:nvPr/>
        </p:nvSpPr>
        <p:spPr>
          <a:xfrm>
            <a:off x="1341706" y="5812766"/>
            <a:ext cx="7092783" cy="701675"/>
          </a:xfrm>
          <a:prstGeom prst="rect">
            <a:avLst/>
          </a:prstGeom>
        </p:spPr>
        <p:txBody>
          <a:bodyPr lIns="0" tIns="0" rIns="0" bIns="0" rtlCol="0" anchor="t">
            <a:spAutoFit/>
          </a:bodyPr>
          <a:lstStyle/>
          <a:p>
            <a:pPr algn="l">
              <a:lnSpc>
                <a:spcPts val="2800"/>
              </a:lnSpc>
              <a:spcBef>
                <a:spcPct val="0"/>
              </a:spcBef>
            </a:pPr>
            <a:r>
              <a:rPr lang="en-US" sz="2000">
                <a:solidFill>
                  <a:srgbClr val="FFFFFF"/>
                </a:solidFill>
                <a:latin typeface="Open Sans"/>
                <a:ea typeface="Open Sans"/>
                <a:cs typeface="Open Sans"/>
                <a:sym typeface="Open Sans"/>
              </a:rPr>
              <a:t>MINOR (Menor) → Nuevas funcionalidades que son compatibles con versiones anteriores.</a:t>
            </a:r>
          </a:p>
        </p:txBody>
      </p:sp>
      <p:sp>
        <p:nvSpPr>
          <p:cNvPr id="9" name="TextBox 9"/>
          <p:cNvSpPr txBox="1"/>
          <p:nvPr/>
        </p:nvSpPr>
        <p:spPr>
          <a:xfrm>
            <a:off x="1341706" y="4892016"/>
            <a:ext cx="7967221" cy="701675"/>
          </a:xfrm>
          <a:prstGeom prst="rect">
            <a:avLst/>
          </a:prstGeom>
        </p:spPr>
        <p:txBody>
          <a:bodyPr lIns="0" tIns="0" rIns="0" bIns="0" rtlCol="0" anchor="t">
            <a:spAutoFit/>
          </a:bodyPr>
          <a:lstStyle/>
          <a:p>
            <a:pPr algn="l">
              <a:lnSpc>
                <a:spcPts val="2800"/>
              </a:lnSpc>
            </a:pPr>
            <a:r>
              <a:rPr lang="en-US" sz="2000">
                <a:solidFill>
                  <a:srgbClr val="FFFFFF"/>
                </a:solidFill>
                <a:latin typeface="Open Sans"/>
                <a:ea typeface="Open Sans"/>
                <a:cs typeface="Open Sans"/>
                <a:sym typeface="Open Sans"/>
              </a:rPr>
              <a:t>MAJOR (Mayor) → Cambios que rompen compatibilidad con versiones anteriores.</a:t>
            </a:r>
          </a:p>
        </p:txBody>
      </p:sp>
      <p:sp>
        <p:nvSpPr>
          <p:cNvPr id="10" name="TextBox 10"/>
          <p:cNvSpPr txBox="1"/>
          <p:nvPr/>
        </p:nvSpPr>
        <p:spPr>
          <a:xfrm>
            <a:off x="1341706" y="8775342"/>
            <a:ext cx="14621321" cy="349250"/>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Open Sans"/>
                <a:ea typeface="Open Sans"/>
                <a:cs typeface="Open Sans"/>
                <a:sym typeface="Open Sans"/>
              </a:rPr>
              <a:t>El versionado semántico (SemVer) es un estándar que define cómo se deben asignar los números de versión en el software.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555555">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3999868" y="6227762"/>
            <a:ext cx="10288264" cy="2372681"/>
          </a:xfrm>
          <a:custGeom>
            <a:avLst/>
            <a:gdLst/>
            <a:ahLst/>
            <a:cxnLst/>
            <a:rect l="l" t="t" r="r" b="b"/>
            <a:pathLst>
              <a:path w="10288264" h="2372681">
                <a:moveTo>
                  <a:pt x="0" y="0"/>
                </a:moveTo>
                <a:lnTo>
                  <a:pt x="10288264" y="0"/>
                </a:lnTo>
                <a:lnTo>
                  <a:pt x="10288264" y="2372681"/>
                </a:lnTo>
                <a:lnTo>
                  <a:pt x="0" y="2372681"/>
                </a:lnTo>
                <a:lnTo>
                  <a:pt x="0" y="0"/>
                </a:lnTo>
                <a:close/>
              </a:path>
            </a:pathLst>
          </a:custGeom>
          <a:blipFill>
            <a:blip r:embed="rId2"/>
            <a:stretch>
              <a:fillRect/>
            </a:stretch>
          </a:blipFill>
        </p:spPr>
        <p:txBody>
          <a:bodyPr/>
          <a:lstStyle/>
          <a:p>
            <a:endParaRPr lang="es-AR"/>
          </a:p>
        </p:txBody>
      </p:sp>
      <p:sp>
        <p:nvSpPr>
          <p:cNvPr id="3" name="TextBox 3"/>
          <p:cNvSpPr txBox="1"/>
          <p:nvPr/>
        </p:nvSpPr>
        <p:spPr>
          <a:xfrm>
            <a:off x="17125592" y="9076967"/>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FFFFFF"/>
                </a:solidFill>
                <a:latin typeface="Open Sans"/>
                <a:ea typeface="Open Sans"/>
                <a:cs typeface="Open Sans"/>
                <a:sym typeface="Open Sans"/>
              </a:rPr>
              <a:t>9</a:t>
            </a:r>
          </a:p>
        </p:txBody>
      </p:sp>
      <p:sp>
        <p:nvSpPr>
          <p:cNvPr id="4" name="TextBox 4"/>
          <p:cNvSpPr txBox="1"/>
          <p:nvPr/>
        </p:nvSpPr>
        <p:spPr>
          <a:xfrm>
            <a:off x="2548161" y="1932921"/>
            <a:ext cx="13191679" cy="349250"/>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Open Sans"/>
                <a:ea typeface="Open Sans"/>
                <a:cs typeface="Open Sans"/>
                <a:sym typeface="Open Sans"/>
              </a:rPr>
              <a:t>Los símbolos ^ y ~ en package.json controlan cómo se actualizan las dependencias cuando ejecutas npm install.</a:t>
            </a:r>
          </a:p>
        </p:txBody>
      </p:sp>
      <p:sp>
        <p:nvSpPr>
          <p:cNvPr id="5" name="TextBox 5"/>
          <p:cNvSpPr txBox="1"/>
          <p:nvPr/>
        </p:nvSpPr>
        <p:spPr>
          <a:xfrm>
            <a:off x="1008899" y="641357"/>
            <a:ext cx="16875323" cy="688961"/>
          </a:xfrm>
          <a:prstGeom prst="rect">
            <a:avLst/>
          </a:prstGeom>
        </p:spPr>
        <p:txBody>
          <a:bodyPr lIns="0" tIns="0" rIns="0" bIns="0" rtlCol="0" anchor="t">
            <a:spAutoFit/>
          </a:bodyPr>
          <a:lstStyle/>
          <a:p>
            <a:pPr algn="ctr">
              <a:lnSpc>
                <a:spcPts val="5600"/>
              </a:lnSpc>
            </a:pPr>
            <a:r>
              <a:rPr lang="en-US" sz="4000" b="1">
                <a:solidFill>
                  <a:srgbClr val="FFFFFF"/>
                </a:solidFill>
                <a:latin typeface="Open Sans Bold"/>
                <a:ea typeface="Open Sans Bold"/>
                <a:cs typeface="Open Sans Bold"/>
                <a:sym typeface="Open Sans Bold"/>
              </a:rPr>
              <a:t>¿Cuál es la diferencia entre el package.json y el package.lock.json? </a:t>
            </a:r>
          </a:p>
        </p:txBody>
      </p:sp>
      <p:sp>
        <p:nvSpPr>
          <p:cNvPr id="6" name="TextBox 6"/>
          <p:cNvSpPr txBox="1"/>
          <p:nvPr/>
        </p:nvSpPr>
        <p:spPr>
          <a:xfrm>
            <a:off x="1028700" y="3193396"/>
            <a:ext cx="137666" cy="349250"/>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Open Sans"/>
                <a:ea typeface="Open Sans"/>
                <a:cs typeface="Open Sans"/>
                <a:sym typeface="Open Sans"/>
              </a:rPr>
              <a:t>^</a:t>
            </a:r>
          </a:p>
        </p:txBody>
      </p:sp>
      <p:sp>
        <p:nvSpPr>
          <p:cNvPr id="7" name="TextBox 7"/>
          <p:cNvSpPr txBox="1"/>
          <p:nvPr/>
        </p:nvSpPr>
        <p:spPr>
          <a:xfrm>
            <a:off x="1630939" y="3167996"/>
            <a:ext cx="6586273" cy="701675"/>
          </a:xfrm>
          <a:prstGeom prst="rect">
            <a:avLst/>
          </a:prstGeom>
        </p:spPr>
        <p:txBody>
          <a:bodyPr lIns="0" tIns="0" rIns="0" bIns="0" rtlCol="0" anchor="t">
            <a:spAutoFit/>
          </a:bodyPr>
          <a:lstStyle/>
          <a:p>
            <a:pPr algn="l">
              <a:lnSpc>
                <a:spcPts val="2800"/>
              </a:lnSpc>
              <a:spcBef>
                <a:spcPct val="0"/>
              </a:spcBef>
            </a:pPr>
            <a:r>
              <a:rPr lang="en-US" sz="2000">
                <a:solidFill>
                  <a:srgbClr val="FFFFFF"/>
                </a:solidFill>
                <a:latin typeface="Open Sans"/>
                <a:ea typeface="Open Sans"/>
                <a:cs typeface="Open Sans"/>
                <a:sym typeface="Open Sans"/>
              </a:rPr>
              <a:t>Permite actualizar versiones minor y patch, pero mantiene la major.</a:t>
            </a:r>
          </a:p>
        </p:txBody>
      </p:sp>
      <p:sp>
        <p:nvSpPr>
          <p:cNvPr id="8" name="TextBox 8"/>
          <p:cNvSpPr txBox="1"/>
          <p:nvPr/>
        </p:nvSpPr>
        <p:spPr>
          <a:xfrm>
            <a:off x="1630939" y="4196623"/>
            <a:ext cx="2330946" cy="349250"/>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Open Sans"/>
                <a:ea typeface="Open Sans"/>
                <a:cs typeface="Open Sans"/>
                <a:sym typeface="Open Sans"/>
              </a:rPr>
              <a:t>"lodash": "^4.17.21"</a:t>
            </a:r>
          </a:p>
        </p:txBody>
      </p:sp>
      <p:sp>
        <p:nvSpPr>
          <p:cNvPr id="9" name="TextBox 9"/>
          <p:cNvSpPr txBox="1"/>
          <p:nvPr/>
        </p:nvSpPr>
        <p:spPr>
          <a:xfrm>
            <a:off x="1630939" y="4945063"/>
            <a:ext cx="4827984" cy="349250"/>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Open Sans"/>
                <a:ea typeface="Open Sans"/>
                <a:cs typeface="Open Sans"/>
                <a:sym typeface="Open Sans"/>
              </a:rPr>
              <a:t>Desde 4.17.21 hasta 4.x.x (pero no 5.x.x).</a:t>
            </a:r>
          </a:p>
        </p:txBody>
      </p:sp>
      <p:sp>
        <p:nvSpPr>
          <p:cNvPr id="10" name="TextBox 10"/>
          <p:cNvSpPr txBox="1"/>
          <p:nvPr/>
        </p:nvSpPr>
        <p:spPr>
          <a:xfrm>
            <a:off x="9373933" y="3193396"/>
            <a:ext cx="145256" cy="349250"/>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Open Sans"/>
                <a:ea typeface="Open Sans"/>
                <a:cs typeface="Open Sans"/>
                <a:sym typeface="Open Sans"/>
              </a:rPr>
              <a:t>~</a:t>
            </a:r>
          </a:p>
        </p:txBody>
      </p:sp>
      <p:sp>
        <p:nvSpPr>
          <p:cNvPr id="11" name="TextBox 11"/>
          <p:cNvSpPr txBox="1"/>
          <p:nvPr/>
        </p:nvSpPr>
        <p:spPr>
          <a:xfrm>
            <a:off x="9985914" y="3193396"/>
            <a:ext cx="7108627" cy="349250"/>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Open Sans"/>
                <a:ea typeface="Open Sans"/>
                <a:cs typeface="Open Sans"/>
                <a:sym typeface="Open Sans"/>
              </a:rPr>
              <a:t>Permite actualizar solo patch, pero mantiene major y minor.</a:t>
            </a:r>
          </a:p>
        </p:txBody>
      </p:sp>
      <p:sp>
        <p:nvSpPr>
          <p:cNvPr id="12" name="TextBox 12"/>
          <p:cNvSpPr txBox="1"/>
          <p:nvPr/>
        </p:nvSpPr>
        <p:spPr>
          <a:xfrm>
            <a:off x="9985914" y="4196623"/>
            <a:ext cx="2338536" cy="349250"/>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Open Sans"/>
                <a:ea typeface="Open Sans"/>
                <a:cs typeface="Open Sans"/>
                <a:sym typeface="Open Sans"/>
              </a:rPr>
              <a:t>"lodash": "~4.17.21"</a:t>
            </a:r>
          </a:p>
        </p:txBody>
      </p:sp>
      <p:sp>
        <p:nvSpPr>
          <p:cNvPr id="13" name="TextBox 13"/>
          <p:cNvSpPr txBox="1"/>
          <p:nvPr/>
        </p:nvSpPr>
        <p:spPr>
          <a:xfrm>
            <a:off x="9985914" y="4945063"/>
            <a:ext cx="5142607" cy="349250"/>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Open Sans"/>
                <a:ea typeface="Open Sans"/>
                <a:cs typeface="Open Sans"/>
                <a:sym typeface="Open Sans"/>
              </a:rPr>
              <a:t>Desde 4.17.21 hasta 4.17.x (pero no 4.18.x).</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555555">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9466362" y="4798915"/>
            <a:ext cx="6423004" cy="1360806"/>
          </a:xfrm>
          <a:custGeom>
            <a:avLst/>
            <a:gdLst/>
            <a:ahLst/>
            <a:cxnLst/>
            <a:rect l="l" t="t" r="r" b="b"/>
            <a:pathLst>
              <a:path w="6423004" h="1360806">
                <a:moveTo>
                  <a:pt x="0" y="0"/>
                </a:moveTo>
                <a:lnTo>
                  <a:pt x="6423004" y="0"/>
                </a:lnTo>
                <a:lnTo>
                  <a:pt x="6423004" y="1360806"/>
                </a:lnTo>
                <a:lnTo>
                  <a:pt x="0" y="1360806"/>
                </a:lnTo>
                <a:lnTo>
                  <a:pt x="0" y="0"/>
                </a:lnTo>
                <a:close/>
              </a:path>
            </a:pathLst>
          </a:custGeom>
          <a:blipFill>
            <a:blip r:embed="rId2"/>
            <a:stretch>
              <a:fillRect/>
            </a:stretch>
          </a:blipFill>
        </p:spPr>
        <p:txBody>
          <a:bodyPr/>
          <a:lstStyle/>
          <a:p>
            <a:endParaRPr lang="es-AR"/>
          </a:p>
        </p:txBody>
      </p:sp>
      <p:sp>
        <p:nvSpPr>
          <p:cNvPr id="3" name="TextBox 3"/>
          <p:cNvSpPr txBox="1"/>
          <p:nvPr/>
        </p:nvSpPr>
        <p:spPr>
          <a:xfrm>
            <a:off x="16690915" y="8642290"/>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FFFFFF"/>
                </a:solidFill>
                <a:latin typeface="Open Sans"/>
                <a:ea typeface="Open Sans"/>
                <a:cs typeface="Open Sans"/>
                <a:sym typeface="Open Sans"/>
              </a:rPr>
              <a:t>10</a:t>
            </a:r>
          </a:p>
        </p:txBody>
      </p:sp>
      <p:sp>
        <p:nvSpPr>
          <p:cNvPr id="4" name="TextBox 4"/>
          <p:cNvSpPr txBox="1"/>
          <p:nvPr/>
        </p:nvSpPr>
        <p:spPr>
          <a:xfrm>
            <a:off x="6704391" y="664909"/>
            <a:ext cx="5523942" cy="688999"/>
          </a:xfrm>
          <a:prstGeom prst="rect">
            <a:avLst/>
          </a:prstGeom>
        </p:spPr>
        <p:txBody>
          <a:bodyPr lIns="0" tIns="0" rIns="0" bIns="0" rtlCol="0" anchor="t">
            <a:spAutoFit/>
          </a:bodyPr>
          <a:lstStyle/>
          <a:p>
            <a:pPr algn="ctr">
              <a:lnSpc>
                <a:spcPts val="5600"/>
              </a:lnSpc>
            </a:pPr>
            <a:r>
              <a:rPr lang="en-US" sz="4000" b="1">
                <a:solidFill>
                  <a:srgbClr val="FFFFFF"/>
                </a:solidFill>
                <a:latin typeface="Open Sans Bold"/>
                <a:ea typeface="Open Sans Bold"/>
                <a:cs typeface="Open Sans Bold"/>
                <a:sym typeface="Open Sans Bold"/>
              </a:rPr>
              <a:t>Crear proyecto con TS</a:t>
            </a:r>
          </a:p>
        </p:txBody>
      </p:sp>
      <p:sp>
        <p:nvSpPr>
          <p:cNvPr id="5" name="TextBox 5"/>
          <p:cNvSpPr txBox="1"/>
          <p:nvPr/>
        </p:nvSpPr>
        <p:spPr>
          <a:xfrm>
            <a:off x="3066305" y="1757458"/>
            <a:ext cx="12800114" cy="349176"/>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Open Sans"/>
                <a:ea typeface="Open Sans"/>
                <a:cs typeface="Open Sans"/>
                <a:sym typeface="Open Sans"/>
              </a:rPr>
              <a:t>Mismos pasos pero agregando algunas dependencias</a:t>
            </a:r>
          </a:p>
        </p:txBody>
      </p:sp>
      <p:sp>
        <p:nvSpPr>
          <p:cNvPr id="6" name="TextBox 6"/>
          <p:cNvSpPr txBox="1"/>
          <p:nvPr/>
        </p:nvSpPr>
        <p:spPr>
          <a:xfrm>
            <a:off x="7321613" y="2878293"/>
            <a:ext cx="4289497" cy="349277"/>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Open Sans"/>
                <a:ea typeface="Open Sans"/>
                <a:cs typeface="Open Sans"/>
                <a:sym typeface="Open Sans"/>
              </a:rPr>
              <a:t>npm i -D typescript @types/node tsx</a:t>
            </a:r>
          </a:p>
        </p:txBody>
      </p:sp>
      <p:sp>
        <p:nvSpPr>
          <p:cNvPr id="7" name="TextBox 7"/>
          <p:cNvSpPr txBox="1"/>
          <p:nvPr/>
        </p:nvSpPr>
        <p:spPr>
          <a:xfrm>
            <a:off x="7321655" y="2506684"/>
            <a:ext cx="4289413" cy="349176"/>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Open Sans"/>
                <a:ea typeface="Open Sans"/>
                <a:cs typeface="Open Sans"/>
                <a:sym typeface="Open Sans"/>
              </a:rPr>
              <a:t>Instalar TS con npm</a:t>
            </a:r>
          </a:p>
        </p:txBody>
      </p:sp>
      <p:sp>
        <p:nvSpPr>
          <p:cNvPr id="8" name="TextBox 8"/>
          <p:cNvSpPr txBox="1"/>
          <p:nvPr/>
        </p:nvSpPr>
        <p:spPr>
          <a:xfrm>
            <a:off x="8743463" y="3811564"/>
            <a:ext cx="1445798" cy="349277"/>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Open Sans"/>
                <a:ea typeface="Open Sans"/>
                <a:cs typeface="Open Sans"/>
                <a:sym typeface="Open Sans"/>
              </a:rPr>
              <a:t>npx tsc --init</a:t>
            </a:r>
          </a:p>
        </p:txBody>
      </p:sp>
      <p:sp>
        <p:nvSpPr>
          <p:cNvPr id="9" name="TextBox 9"/>
          <p:cNvSpPr txBox="1"/>
          <p:nvPr/>
        </p:nvSpPr>
        <p:spPr>
          <a:xfrm>
            <a:off x="7321655" y="3443339"/>
            <a:ext cx="4289413" cy="349176"/>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Open Sans"/>
                <a:ea typeface="Open Sans"/>
                <a:cs typeface="Open Sans"/>
                <a:sym typeface="Open Sans"/>
              </a:rPr>
              <a:t>Iniciamos un proyecto ts</a:t>
            </a:r>
          </a:p>
        </p:txBody>
      </p:sp>
      <p:sp>
        <p:nvSpPr>
          <p:cNvPr id="10" name="TextBox 10"/>
          <p:cNvSpPr txBox="1"/>
          <p:nvPr/>
        </p:nvSpPr>
        <p:spPr>
          <a:xfrm>
            <a:off x="4234009" y="5095875"/>
            <a:ext cx="4289413" cy="701526"/>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Open Sans"/>
                <a:ea typeface="Open Sans"/>
                <a:cs typeface="Open Sans"/>
                <a:sym typeface="Open Sans"/>
              </a:rPr>
              <a:t>Descomentamos estás dos lineas para que TS reconozca a Node</a:t>
            </a:r>
          </a:p>
        </p:txBody>
      </p:sp>
      <p:sp>
        <p:nvSpPr>
          <p:cNvPr id="11" name="TextBox 11"/>
          <p:cNvSpPr txBox="1"/>
          <p:nvPr/>
        </p:nvSpPr>
        <p:spPr>
          <a:xfrm>
            <a:off x="4959724" y="7753482"/>
            <a:ext cx="5867363" cy="349176"/>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Open Sans"/>
                <a:ea typeface="Open Sans"/>
                <a:cs typeface="Open Sans"/>
                <a:sym typeface="Open Sans"/>
              </a:rPr>
              <a:t>@types/node → paquete que contiene esos tipos.</a:t>
            </a:r>
          </a:p>
        </p:txBody>
      </p:sp>
      <p:sp>
        <p:nvSpPr>
          <p:cNvPr id="12" name="TextBox 12"/>
          <p:cNvSpPr txBox="1"/>
          <p:nvPr/>
        </p:nvSpPr>
        <p:spPr>
          <a:xfrm>
            <a:off x="4828684" y="6644537"/>
            <a:ext cx="10089617" cy="349176"/>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Open Sans"/>
                <a:ea typeface="Open Sans"/>
                <a:cs typeface="Open Sans"/>
                <a:sym typeface="Open Sans"/>
              </a:rPr>
              <a:t>"module": "nodenext" → cómo manejar imports/exports (ESM y CommonJS en Node).</a:t>
            </a:r>
          </a:p>
        </p:txBody>
      </p:sp>
      <p:sp>
        <p:nvSpPr>
          <p:cNvPr id="13" name="TextBox 13"/>
          <p:cNvSpPr txBox="1"/>
          <p:nvPr/>
        </p:nvSpPr>
        <p:spPr>
          <a:xfrm>
            <a:off x="4959724" y="8331257"/>
            <a:ext cx="7900169" cy="349176"/>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Open Sans"/>
                <a:ea typeface="Open Sans"/>
                <a:cs typeface="Open Sans"/>
                <a:sym typeface="Open Sans"/>
              </a:rPr>
              <a:t>"target": "esnext" → qué versión de JS se genera (código moderno).</a:t>
            </a:r>
          </a:p>
        </p:txBody>
      </p:sp>
      <p:sp>
        <p:nvSpPr>
          <p:cNvPr id="14" name="TextBox 14"/>
          <p:cNvSpPr txBox="1"/>
          <p:nvPr/>
        </p:nvSpPr>
        <p:spPr>
          <a:xfrm>
            <a:off x="4959724" y="8909124"/>
            <a:ext cx="7492938" cy="349176"/>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Open Sans"/>
                <a:ea typeface="Open Sans"/>
                <a:cs typeface="Open Sans"/>
                <a:sym typeface="Open Sans"/>
              </a:rPr>
              <a:t>"lib": ["esnext"] → qué APIs de JS tenés disponibles en el tipado.</a:t>
            </a:r>
          </a:p>
        </p:txBody>
      </p:sp>
      <p:sp>
        <p:nvSpPr>
          <p:cNvPr id="15" name="TextBox 15"/>
          <p:cNvSpPr txBox="1"/>
          <p:nvPr/>
        </p:nvSpPr>
        <p:spPr>
          <a:xfrm>
            <a:off x="4959724" y="7175706"/>
            <a:ext cx="7900169" cy="349176"/>
          </a:xfrm>
          <a:prstGeom prst="rect">
            <a:avLst/>
          </a:prstGeom>
        </p:spPr>
        <p:txBody>
          <a:bodyPr lIns="0" tIns="0" rIns="0" bIns="0" rtlCol="0" anchor="t">
            <a:spAutoFit/>
          </a:bodyPr>
          <a:lstStyle/>
          <a:p>
            <a:pPr algn="l">
              <a:lnSpc>
                <a:spcPts val="2800"/>
              </a:lnSpc>
              <a:spcBef>
                <a:spcPct val="0"/>
              </a:spcBef>
            </a:pPr>
            <a:r>
              <a:rPr lang="en-US" sz="2000">
                <a:solidFill>
                  <a:srgbClr val="FFFFFF"/>
                </a:solidFill>
                <a:latin typeface="Open Sans"/>
                <a:ea typeface="Open Sans"/>
                <a:cs typeface="Open Sans"/>
                <a:sym typeface="Open Sans"/>
              </a:rPr>
              <a:t>"types": ["node"] → activá tipado para Node.js.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555555">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4122009" y="1929256"/>
            <a:ext cx="10688706" cy="4244250"/>
          </a:xfrm>
          <a:custGeom>
            <a:avLst/>
            <a:gdLst/>
            <a:ahLst/>
            <a:cxnLst/>
            <a:rect l="l" t="t" r="r" b="b"/>
            <a:pathLst>
              <a:path w="10688706" h="4244250">
                <a:moveTo>
                  <a:pt x="0" y="0"/>
                </a:moveTo>
                <a:lnTo>
                  <a:pt x="10688706" y="0"/>
                </a:lnTo>
                <a:lnTo>
                  <a:pt x="10688706" y="4244249"/>
                </a:lnTo>
                <a:lnTo>
                  <a:pt x="0" y="4244249"/>
                </a:lnTo>
                <a:lnTo>
                  <a:pt x="0" y="0"/>
                </a:lnTo>
                <a:close/>
              </a:path>
            </a:pathLst>
          </a:custGeom>
          <a:blipFill>
            <a:blip r:embed="rId2"/>
            <a:stretch>
              <a:fillRect t="-2766"/>
            </a:stretch>
          </a:blipFill>
        </p:spPr>
        <p:txBody>
          <a:bodyPr/>
          <a:lstStyle/>
          <a:p>
            <a:endParaRPr lang="es-AR"/>
          </a:p>
        </p:txBody>
      </p:sp>
      <p:sp>
        <p:nvSpPr>
          <p:cNvPr id="3" name="Freeform 3"/>
          <p:cNvSpPr/>
          <p:nvPr/>
        </p:nvSpPr>
        <p:spPr>
          <a:xfrm>
            <a:off x="4692898" y="7024554"/>
            <a:ext cx="9546927" cy="1076099"/>
          </a:xfrm>
          <a:custGeom>
            <a:avLst/>
            <a:gdLst/>
            <a:ahLst/>
            <a:cxnLst/>
            <a:rect l="l" t="t" r="r" b="b"/>
            <a:pathLst>
              <a:path w="9546927" h="1076099">
                <a:moveTo>
                  <a:pt x="0" y="0"/>
                </a:moveTo>
                <a:lnTo>
                  <a:pt x="9546927" y="0"/>
                </a:lnTo>
                <a:lnTo>
                  <a:pt x="9546927" y="1076099"/>
                </a:lnTo>
                <a:lnTo>
                  <a:pt x="0" y="1076099"/>
                </a:lnTo>
                <a:lnTo>
                  <a:pt x="0" y="0"/>
                </a:lnTo>
                <a:close/>
              </a:path>
            </a:pathLst>
          </a:custGeom>
          <a:blipFill>
            <a:blip r:embed="rId3"/>
            <a:stretch>
              <a:fillRect/>
            </a:stretch>
          </a:blipFill>
        </p:spPr>
        <p:txBody>
          <a:bodyPr/>
          <a:lstStyle/>
          <a:p>
            <a:endParaRPr lang="es-AR"/>
          </a:p>
        </p:txBody>
      </p:sp>
      <p:sp>
        <p:nvSpPr>
          <p:cNvPr id="4" name="TextBox 4"/>
          <p:cNvSpPr txBox="1"/>
          <p:nvPr/>
        </p:nvSpPr>
        <p:spPr>
          <a:xfrm>
            <a:off x="16690915" y="8642290"/>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FFFFFF"/>
                </a:solidFill>
                <a:latin typeface="Open Sans"/>
                <a:ea typeface="Open Sans"/>
                <a:cs typeface="Open Sans"/>
                <a:sym typeface="Open Sans"/>
              </a:rPr>
              <a:t>11</a:t>
            </a:r>
          </a:p>
        </p:txBody>
      </p:sp>
      <p:sp>
        <p:nvSpPr>
          <p:cNvPr id="5" name="TextBox 5"/>
          <p:cNvSpPr txBox="1"/>
          <p:nvPr/>
        </p:nvSpPr>
        <p:spPr>
          <a:xfrm>
            <a:off x="6216421" y="664909"/>
            <a:ext cx="6499882" cy="688999"/>
          </a:xfrm>
          <a:prstGeom prst="rect">
            <a:avLst/>
          </a:prstGeom>
        </p:spPr>
        <p:txBody>
          <a:bodyPr lIns="0" tIns="0" rIns="0" bIns="0" rtlCol="0" anchor="t">
            <a:spAutoFit/>
          </a:bodyPr>
          <a:lstStyle/>
          <a:p>
            <a:pPr algn="ctr">
              <a:lnSpc>
                <a:spcPts val="5600"/>
              </a:lnSpc>
            </a:pPr>
            <a:r>
              <a:rPr lang="en-US" sz="4000" b="1">
                <a:solidFill>
                  <a:srgbClr val="FFFFFF"/>
                </a:solidFill>
                <a:latin typeface="Open Sans Bold"/>
                <a:ea typeface="Open Sans Bold"/>
                <a:cs typeface="Open Sans Bold"/>
                <a:sym typeface="Open Sans Bold"/>
              </a:rPr>
              <a:t>Creamos nuestro index.ts</a:t>
            </a:r>
          </a:p>
        </p:txBody>
      </p:sp>
      <p:sp>
        <p:nvSpPr>
          <p:cNvPr id="6" name="TextBox 6"/>
          <p:cNvSpPr txBox="1"/>
          <p:nvPr/>
        </p:nvSpPr>
        <p:spPr>
          <a:xfrm>
            <a:off x="7086791" y="6543549"/>
            <a:ext cx="4289413" cy="701526"/>
          </a:xfrm>
          <a:prstGeom prst="rect">
            <a:avLst/>
          </a:prstGeom>
        </p:spPr>
        <p:txBody>
          <a:bodyPr lIns="0" tIns="0" rIns="0" bIns="0" rtlCol="0" anchor="t">
            <a:spAutoFit/>
          </a:bodyPr>
          <a:lstStyle/>
          <a:p>
            <a:pPr algn="ctr">
              <a:lnSpc>
                <a:spcPts val="2800"/>
              </a:lnSpc>
            </a:pPr>
            <a:r>
              <a:rPr lang="en-US" sz="2000">
                <a:solidFill>
                  <a:srgbClr val="FFFFFF"/>
                </a:solidFill>
                <a:latin typeface="Open Sans"/>
                <a:ea typeface="Open Sans"/>
                <a:cs typeface="Open Sans"/>
                <a:sym typeface="Open Sans"/>
              </a:rPr>
              <a:t>Corremos el proyecto npm run dev</a:t>
            </a:r>
          </a:p>
          <a:p>
            <a:pPr algn="ctr">
              <a:lnSpc>
                <a:spcPts val="2800"/>
              </a:lnSpc>
              <a:spcBef>
                <a:spcPct val="0"/>
              </a:spcBef>
            </a:pPr>
            <a:endParaRPr lang="en-US" sz="2000">
              <a:solidFill>
                <a:srgbClr val="FFFFFF"/>
              </a:solidFill>
              <a:latin typeface="Open Sans"/>
              <a:ea typeface="Open Sans"/>
              <a:cs typeface="Open Sans"/>
              <a:sym typeface="Open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555555">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2909658" y="2993758"/>
            <a:ext cx="3626167" cy="4114800"/>
          </a:xfrm>
          <a:custGeom>
            <a:avLst/>
            <a:gdLst/>
            <a:ahLst/>
            <a:cxnLst/>
            <a:rect l="l" t="t" r="r" b="b"/>
            <a:pathLst>
              <a:path w="3626167" h="4114800">
                <a:moveTo>
                  <a:pt x="0" y="0"/>
                </a:moveTo>
                <a:lnTo>
                  <a:pt x="3626168" y="0"/>
                </a:lnTo>
                <a:lnTo>
                  <a:pt x="362616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AR"/>
          </a:p>
        </p:txBody>
      </p:sp>
      <p:sp>
        <p:nvSpPr>
          <p:cNvPr id="3" name="TextBox 3"/>
          <p:cNvSpPr txBox="1"/>
          <p:nvPr/>
        </p:nvSpPr>
        <p:spPr>
          <a:xfrm>
            <a:off x="17384797" y="9336172"/>
            <a:ext cx="152400" cy="200025"/>
          </a:xfrm>
          <a:prstGeom prst="rect">
            <a:avLst/>
          </a:prstGeom>
        </p:spPr>
        <p:txBody>
          <a:bodyPr wrap="none" lIns="0" tIns="0" rIns="0" bIns="0" rtlCol="0" anchor="t">
            <a:spAutoFit/>
          </a:bodyPr>
          <a:lstStyle/>
          <a:p>
            <a:pPr algn="ctr">
              <a:lnSpc>
                <a:spcPts val="2239"/>
              </a:lnSpc>
              <a:spcBef>
                <a:spcPct val="0"/>
              </a:spcBef>
            </a:pPr>
            <a:r>
              <a:rPr lang="en-US" sz="1599">
                <a:solidFill>
                  <a:srgbClr val="FFFFFF"/>
                </a:solidFill>
                <a:latin typeface="Poppins"/>
                <a:ea typeface="Poppins"/>
                <a:cs typeface="Poppins"/>
                <a:sym typeface="Poppins"/>
              </a:rPr>
              <a:t>12</a:t>
            </a:r>
          </a:p>
        </p:txBody>
      </p:sp>
      <p:sp>
        <p:nvSpPr>
          <p:cNvPr id="4" name="TextBox 4"/>
          <p:cNvSpPr txBox="1"/>
          <p:nvPr/>
        </p:nvSpPr>
        <p:spPr>
          <a:xfrm>
            <a:off x="9310022" y="4454501"/>
            <a:ext cx="4190442" cy="688999"/>
          </a:xfrm>
          <a:prstGeom prst="rect">
            <a:avLst/>
          </a:prstGeom>
        </p:spPr>
        <p:txBody>
          <a:bodyPr lIns="0" tIns="0" rIns="0" bIns="0" rtlCol="0" anchor="t">
            <a:spAutoFit/>
          </a:bodyPr>
          <a:lstStyle/>
          <a:p>
            <a:pPr algn="ctr">
              <a:lnSpc>
                <a:spcPts val="5600"/>
              </a:lnSpc>
            </a:pPr>
            <a:r>
              <a:rPr lang="en-US" sz="4000" b="1">
                <a:solidFill>
                  <a:srgbClr val="FFFFFF"/>
                </a:solidFill>
                <a:latin typeface="Open Sans Bold"/>
                <a:ea typeface="Open Sans Bold"/>
                <a:cs typeface="Open Sans Bold"/>
                <a:sym typeface="Open Sans Bold"/>
              </a:rPr>
              <a:t>Muchas gracias!!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808</Words>
  <Application>Microsoft Office PowerPoint</Application>
  <PresentationFormat>Personalizado</PresentationFormat>
  <Paragraphs>85</Paragraphs>
  <Slides>12</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12</vt:i4>
      </vt:variant>
    </vt:vector>
  </HeadingPairs>
  <TitlesOfParts>
    <vt:vector size="18" baseType="lpstr">
      <vt:lpstr>Poppins</vt:lpstr>
      <vt:lpstr>Open Sans Bold</vt:lpstr>
      <vt:lpstr>Open Sans</vt: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Crear proyecto</dc:title>
  <cp:lastModifiedBy>Joel Cesar Escobar Lasalas</cp:lastModifiedBy>
  <cp:revision>2</cp:revision>
  <dcterms:created xsi:type="dcterms:W3CDTF">2006-08-16T00:00:00Z</dcterms:created>
  <dcterms:modified xsi:type="dcterms:W3CDTF">2025-10-28T23:56:39Z</dcterms:modified>
  <dc:identifier>DAGxTYBIRWM</dc:identifier>
</cp:coreProperties>
</file>